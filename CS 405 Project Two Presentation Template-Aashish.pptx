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Century Gothic"/>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A09C9C-403D-40CD-AD19-03C6D44B8345}">
  <a:tblStyle styleId="{89A09C9C-403D-40CD-AD19-03C6D44B834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14E2DB7-E4B3-4225-9AB8-58190AD5C0B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31FC68B-7FF3-440C-8EE5-E7854D669411}"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enturyGothic-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enturyGothic-italic.fntdata"/><Relationship Id="rId25" Type="http://schemas.openxmlformats.org/officeDocument/2006/relationships/font" Target="fonts/CenturyGothic-bold.fntdata"/><Relationship Id="rId27"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68bd9a3796dea6c8_1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h68bd9a3796dea6c8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68bd9a3796dea6c8_1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h68bd9a3796dea6c8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68bd9a3796dea6c8_1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h68bd9a3796dea6c8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2"/>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2"/>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4"/>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4"/>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5"/>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6"/>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6"/>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6"/>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6"/>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9"/>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7861238" y="751241"/>
            <a:ext cx="3644962" cy="5467443"/>
          </a:xfrm>
          <a:prstGeom prst="rect">
            <a:avLst/>
          </a:prstGeom>
          <a:noFill/>
          <a:ln>
            <a:noFill/>
          </a:ln>
        </p:spPr>
      </p:sp>
      <p:sp>
        <p:nvSpPr>
          <p:cNvPr id="67" name="Google Shape;67;p10"/>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1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11"/>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p:nvPr>
            <p:ph idx="2" type="pic"/>
          </p:nvPr>
        </p:nvSpPr>
        <p:spPr>
          <a:xfrm>
            <a:off x="681727" y="941439"/>
            <a:ext cx="10821840" cy="3478161"/>
          </a:xfrm>
          <a:prstGeom prst="rect">
            <a:avLst/>
          </a:prstGeom>
          <a:noFill/>
          <a:ln>
            <a:noFill/>
          </a:ln>
        </p:spPr>
      </p:sp>
      <p:sp>
        <p:nvSpPr>
          <p:cNvPr id="74" name="Google Shape;74;p11"/>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1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1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12"/>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12"/>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13"/>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13"/>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13"/>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13"/>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3"/>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3"/>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1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14"/>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4"/>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14"/>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4"/>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15"/>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5"/>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15"/>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15"/>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15"/>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15"/>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15"/>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16"/>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6"/>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16"/>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17" name="Google Shape;117;p16"/>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16"/>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16"/>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20" name="Google Shape;120;p16"/>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16"/>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16"/>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23" name="Google Shape;123;p16"/>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1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7"/>
          <p:cNvSpPr txBox="1"/>
          <p:nvPr>
            <p:ph idx="1" type="body"/>
          </p:nvPr>
        </p:nvSpPr>
        <p:spPr>
          <a:xfrm rot="5400000">
            <a:off x="4083937"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18"/>
          <p:cNvSpPr txBox="1"/>
          <p:nvPr>
            <p:ph type="title"/>
          </p:nvPr>
        </p:nvSpPr>
        <p:spPr>
          <a:xfrm rot="5400000">
            <a:off x="8525933"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8"/>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18"/>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8"/>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sei.cmu.edu/library/sei-cert-c-and-c-coding-standards/" TargetMode="External"/><Relationship Id="rId4" Type="http://schemas.openxmlformats.org/officeDocument/2006/relationships/hyperlink" Target="https://sourceforge.net/p/cppcheck/wiki/Home/" TargetMode="External"/><Relationship Id="rId5" Type="http://schemas.openxmlformats.org/officeDocument/2006/relationships/hyperlink" Target="https://learn.microsoft.com/en-us/visualstudio/test/writing-unit-tests-for-c-cpp?view=visualstudio" TargetMode="External"/><Relationship Id="rId6" Type="http://schemas.openxmlformats.org/officeDocument/2006/relationships/hyperlink" Target="https://owasp.org/Top10/2021/" TargetMode="External"/><Relationship Id="rId7"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ctrTitle"/>
          </p:nvPr>
        </p:nvSpPr>
        <p:spPr>
          <a:xfrm>
            <a:off x="1371600" y="1790153"/>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9"/>
          <p:cNvSpPr txBox="1"/>
          <p:nvPr>
            <p:ph idx="1" type="subTitle"/>
          </p:nvPr>
        </p:nvSpPr>
        <p:spPr>
          <a:xfrm>
            <a:off x="1371600" y="3632200"/>
            <a:ext cx="9448800" cy="1561592"/>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lt1"/>
              </a:buClr>
              <a:buSzPts val="1850"/>
              <a:buNone/>
            </a:pPr>
            <a:r>
              <a:rPr lang="en-US" sz="1850"/>
              <a:t>Security Policy Presentation</a:t>
            </a:r>
            <a:endParaRPr/>
          </a:p>
          <a:p>
            <a:pPr indent="0" lvl="0" marL="0" rtl="0" algn="l">
              <a:lnSpc>
                <a:spcPct val="70000"/>
              </a:lnSpc>
              <a:spcBef>
                <a:spcPts val="1000"/>
              </a:spcBef>
              <a:spcAft>
                <a:spcPts val="0"/>
              </a:spcAft>
              <a:buClr>
                <a:schemeClr val="lt1"/>
              </a:buClr>
              <a:buSzPts val="1850"/>
              <a:buNone/>
            </a:pPr>
            <a:r>
              <a:rPr lang="en-US" sz="1850"/>
              <a:t>Developer: </a:t>
            </a:r>
            <a:r>
              <a:rPr i="1" lang="en-US" sz="1850"/>
              <a:t>Aashish Shenoy</a:t>
            </a:r>
            <a:endParaRPr/>
          </a:p>
          <a:p>
            <a:pPr indent="0" lvl="0" marL="0" rtl="0" algn="l">
              <a:lnSpc>
                <a:spcPct val="70000"/>
              </a:lnSpc>
              <a:spcBef>
                <a:spcPts val="1000"/>
              </a:spcBef>
              <a:spcAft>
                <a:spcPts val="0"/>
              </a:spcAft>
              <a:buClr>
                <a:schemeClr val="lt1"/>
              </a:buClr>
              <a:buSzPts val="1850"/>
              <a:buNone/>
            </a:pPr>
            <a:r>
              <a:t/>
            </a:r>
            <a:endParaRPr i="1" sz="1850"/>
          </a:p>
          <a:p>
            <a:pPr indent="0" lvl="0" marL="0" rtl="0" algn="l">
              <a:lnSpc>
                <a:spcPct val="70000"/>
              </a:lnSpc>
              <a:spcBef>
                <a:spcPts val="1000"/>
              </a:spcBef>
              <a:spcAft>
                <a:spcPts val="0"/>
              </a:spcAft>
              <a:buSzPts val="1850"/>
              <a:buNone/>
            </a:pPr>
            <a:r>
              <a:t/>
            </a:r>
            <a:endParaRPr i="1"/>
          </a:p>
        </p:txBody>
      </p:sp>
      <p:pic>
        <p:nvPicPr>
          <p:cNvPr descr="Green Pace logo" id="146" name="Google Shape;146;p19"/>
          <p:cNvPicPr preferRelativeResize="0"/>
          <p:nvPr/>
        </p:nvPicPr>
        <p:blipFill rotWithShape="1">
          <a:blip r:embed="rId3">
            <a:alphaModFix/>
          </a:blip>
          <a:srcRect b="0" l="0" r="0" t="0"/>
          <a:stretch/>
        </p:blipFill>
        <p:spPr>
          <a:xfrm>
            <a:off x="7440774" y="659854"/>
            <a:ext cx="2921424" cy="37867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20"/>
          <p:cNvSpPr txBox="1"/>
          <p:nvPr>
            <p:ph idx="1" type="body"/>
          </p:nvPr>
        </p:nvSpPr>
        <p:spPr>
          <a:xfrm>
            <a:off x="685800" y="2194550"/>
            <a:ext cx="4792200" cy="3960900"/>
          </a:xfrm>
          <a:prstGeom prst="rect">
            <a:avLst/>
          </a:prstGeom>
          <a:noFill/>
          <a:ln>
            <a:noFill/>
          </a:ln>
        </p:spPr>
        <p:txBody>
          <a:bodyPr anchorCtr="0" anchor="t" bIns="45700" lIns="91425" spcFirstLastPara="1" rIns="91425" wrap="square" tIns="45700">
            <a:spAutoFit/>
          </a:bodyPr>
          <a:lstStyle/>
          <a:p>
            <a:pPr indent="-342900" lvl="0" marL="457200" rtl="0" algn="l">
              <a:lnSpc>
                <a:spcPct val="90000"/>
              </a:lnSpc>
              <a:spcBef>
                <a:spcPts val="0"/>
              </a:spcBef>
              <a:spcAft>
                <a:spcPts val="0"/>
              </a:spcAft>
              <a:buSzPts val="1800"/>
              <a:buChar char="•"/>
            </a:pPr>
            <a:r>
              <a:rPr lang="en-US" sz="1800"/>
              <a:t>Green Pace uses a security policy to establish consistent security standards and best practices for all of its developers.</a:t>
            </a:r>
            <a:endParaRPr sz="1800"/>
          </a:p>
          <a:p>
            <a:pPr indent="-342900" lvl="0" marL="457200" rtl="0" algn="l">
              <a:lnSpc>
                <a:spcPct val="90000"/>
              </a:lnSpc>
              <a:spcBef>
                <a:spcPts val="0"/>
              </a:spcBef>
              <a:spcAft>
                <a:spcPts val="0"/>
              </a:spcAft>
              <a:buSzPts val="1800"/>
              <a:buChar char="•"/>
            </a:pPr>
            <a:r>
              <a:rPr lang="en-US" sz="1800"/>
              <a:t>This policy helps to prevent vulnerabilities and uses </a:t>
            </a:r>
            <a:r>
              <a:rPr lang="en-US" sz="1800"/>
              <a:t>defense</a:t>
            </a:r>
            <a:r>
              <a:rPr lang="en-US" sz="1800"/>
              <a:t> in depth with multiple layers of security to protect systems and sensitive information. </a:t>
            </a:r>
            <a:endParaRPr sz="1800"/>
          </a:p>
          <a:p>
            <a:pPr indent="-342900" lvl="0" marL="457200" rtl="0" algn="l">
              <a:lnSpc>
                <a:spcPct val="90000"/>
              </a:lnSpc>
              <a:spcBef>
                <a:spcPts val="0"/>
              </a:spcBef>
              <a:spcAft>
                <a:spcPts val="0"/>
              </a:spcAft>
              <a:buSzPts val="1800"/>
              <a:buChar char="•"/>
            </a:pPr>
            <a:r>
              <a:rPr lang="en-US" sz="1800"/>
              <a:t>Together with secure coding, access controls, encryption, testing, and policy updates we ensure that security risks are reduced and identify new vulnerabilities. </a:t>
            </a:r>
            <a:endParaRPr sz="1800"/>
          </a:p>
          <a:p>
            <a:pPr indent="0" lvl="0" marL="0" rtl="0" algn="l">
              <a:lnSpc>
                <a:spcPct val="90000"/>
              </a:lnSpc>
              <a:spcBef>
                <a:spcPts val="1000"/>
              </a:spcBef>
              <a:spcAft>
                <a:spcPts val="0"/>
              </a:spcAft>
              <a:buClr>
                <a:schemeClr val="lt1"/>
              </a:buClr>
              <a:buSzPts val="2200"/>
              <a:buNone/>
            </a:pPr>
            <a:r>
              <a:t/>
            </a:r>
            <a:endParaRPr sz="1800"/>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53" name="Google Shape;153;p20"/>
          <p:cNvPicPr preferRelativeResize="0"/>
          <p:nvPr/>
        </p:nvPicPr>
        <p:blipFill rotWithShape="1">
          <a:blip r:embed="rId3">
            <a:alphaModFix/>
          </a:blip>
          <a:srcRect b="0" l="0" r="0" t="0"/>
          <a:stretch/>
        </p:blipFill>
        <p:spPr>
          <a:xfrm>
            <a:off x="5578418" y="2057411"/>
            <a:ext cx="6453258" cy="3797196"/>
          </a:xfrm>
          <a:prstGeom prst="rect">
            <a:avLst/>
          </a:prstGeom>
          <a:noFill/>
          <a:ln>
            <a:noFill/>
          </a:ln>
        </p:spPr>
      </p:pic>
      <p:pic>
        <p:nvPicPr>
          <p:cNvPr descr="Green Pace logo" id="154" name="Google Shape;154;p20"/>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21"/>
          <p:cNvSpPr txBox="1"/>
          <p:nvPr>
            <p:ph idx="1" type="body"/>
          </p:nvPr>
        </p:nvSpPr>
        <p:spPr>
          <a:xfrm>
            <a:off x="511125" y="2194550"/>
            <a:ext cx="2486100" cy="4024200"/>
          </a:xfrm>
          <a:prstGeom prst="rect">
            <a:avLst/>
          </a:prstGeom>
          <a:noFill/>
          <a:ln>
            <a:noFill/>
          </a:ln>
        </p:spPr>
        <p:txBody>
          <a:bodyPr anchorCtr="0" anchor="t" bIns="45700" lIns="91425" spcFirstLastPara="1" rIns="91425" wrap="square" tIns="45700">
            <a:normAutofit fontScale="70000" lnSpcReduction="20000"/>
          </a:bodyPr>
          <a:lstStyle/>
          <a:p>
            <a:pPr indent="0" lvl="0" marL="228600" rtl="0" algn="l">
              <a:lnSpc>
                <a:spcPct val="107916"/>
              </a:lnSpc>
              <a:spcBef>
                <a:spcPts val="0"/>
              </a:spcBef>
              <a:spcAft>
                <a:spcPts val="0"/>
              </a:spcAft>
              <a:buSzPct val="90000"/>
              <a:buNone/>
            </a:pPr>
            <a:r>
              <a:rPr lang="en-US" sz="2000">
                <a:solidFill>
                  <a:srgbClr val="FFFFFF"/>
                </a:solidFill>
              </a:rPr>
              <a:t>Highest risk: STD-003 (String Correctness) and STD-004 (SQL Injection) have high severity and likelihood.</a:t>
            </a:r>
            <a:endParaRPr sz="2000">
              <a:solidFill>
                <a:srgbClr val="FFFFFF"/>
              </a:solidFill>
            </a:endParaRPr>
          </a:p>
          <a:p>
            <a:pPr indent="0" lvl="0" marL="228600" rtl="0" algn="l">
              <a:lnSpc>
                <a:spcPct val="107916"/>
              </a:lnSpc>
              <a:spcBef>
                <a:spcPts val="0"/>
              </a:spcBef>
              <a:spcAft>
                <a:spcPts val="0"/>
              </a:spcAft>
              <a:buSzPct val="90000"/>
              <a:buNone/>
            </a:pPr>
            <a:r>
              <a:t/>
            </a:r>
            <a:endParaRPr sz="2000">
              <a:solidFill>
                <a:srgbClr val="FFFFFF"/>
              </a:solidFill>
            </a:endParaRPr>
          </a:p>
          <a:p>
            <a:pPr indent="0" lvl="0" marL="228600" rtl="0" algn="l">
              <a:lnSpc>
                <a:spcPct val="107916"/>
              </a:lnSpc>
              <a:spcBef>
                <a:spcPts val="0"/>
              </a:spcBef>
              <a:spcAft>
                <a:spcPts val="0"/>
              </a:spcAft>
              <a:buSzPct val="90000"/>
              <a:buNone/>
            </a:pPr>
            <a:r>
              <a:rPr lang="en-US" sz="2000">
                <a:solidFill>
                  <a:srgbClr val="FFFFFF"/>
                </a:solidFill>
              </a:rPr>
              <a:t>High priority: STD-001, STD-005, STD-009, and STD-010.</a:t>
            </a:r>
            <a:endParaRPr sz="2000">
              <a:solidFill>
                <a:srgbClr val="FFFFFF"/>
              </a:solidFill>
            </a:endParaRPr>
          </a:p>
          <a:p>
            <a:pPr indent="0" lvl="0" marL="228600" rtl="0" algn="l">
              <a:lnSpc>
                <a:spcPct val="107916"/>
              </a:lnSpc>
              <a:spcBef>
                <a:spcPts val="0"/>
              </a:spcBef>
              <a:spcAft>
                <a:spcPts val="0"/>
              </a:spcAft>
              <a:buSzPct val="90000"/>
              <a:buNone/>
            </a:pPr>
            <a:r>
              <a:t/>
            </a:r>
            <a:endParaRPr sz="2000">
              <a:solidFill>
                <a:srgbClr val="FFFFFF"/>
              </a:solidFill>
            </a:endParaRPr>
          </a:p>
          <a:p>
            <a:pPr indent="0" lvl="0" marL="228600" rtl="0" algn="l">
              <a:lnSpc>
                <a:spcPct val="107916"/>
              </a:lnSpc>
              <a:spcBef>
                <a:spcPts val="0"/>
              </a:spcBef>
              <a:spcAft>
                <a:spcPts val="0"/>
              </a:spcAft>
              <a:buSzPct val="90000"/>
              <a:buNone/>
            </a:pPr>
            <a:r>
              <a:rPr lang="en-US" sz="2000">
                <a:solidFill>
                  <a:srgbClr val="FFFFFF"/>
                </a:solidFill>
              </a:rPr>
              <a:t>Medium priority: STD-002, STD-006, STD-007, and STD-008 </a:t>
            </a:r>
            <a:endParaRPr sz="2000">
              <a:solidFill>
                <a:srgbClr val="FFFFFF"/>
              </a:solidFill>
            </a:endParaRPr>
          </a:p>
          <a:p>
            <a:pPr indent="0" lvl="0" marL="228600" rtl="0" algn="l">
              <a:lnSpc>
                <a:spcPct val="107916"/>
              </a:lnSpc>
              <a:spcBef>
                <a:spcPts val="0"/>
              </a:spcBef>
              <a:spcAft>
                <a:spcPts val="0"/>
              </a:spcAft>
              <a:buSzPct val="90000"/>
              <a:buNone/>
            </a:pPr>
            <a:r>
              <a:t/>
            </a:r>
            <a:endParaRPr sz="2000">
              <a:solidFill>
                <a:srgbClr val="FFFFFF"/>
              </a:solidFill>
            </a:endParaRPr>
          </a:p>
          <a:p>
            <a:pPr indent="0" lvl="0" marL="228600" rtl="0" algn="l">
              <a:lnSpc>
                <a:spcPct val="107916"/>
              </a:lnSpc>
              <a:spcBef>
                <a:spcPts val="0"/>
              </a:spcBef>
              <a:spcAft>
                <a:spcPts val="0"/>
              </a:spcAft>
              <a:buSzPct val="90000"/>
              <a:buNone/>
            </a:pPr>
            <a:r>
              <a:rPr lang="en-US" sz="2000">
                <a:solidFill>
                  <a:srgbClr val="FFFFFF"/>
                </a:solidFill>
              </a:rPr>
              <a:t>Threats are prioritized based on severity, likelihood, and remediation cost.</a:t>
            </a:r>
            <a:endParaRPr sz="2000">
              <a:solidFill>
                <a:srgbClr val="FFFFFF"/>
              </a:solidFill>
            </a:endParaRPr>
          </a:p>
          <a:p>
            <a:pPr indent="-88900" lvl="0" marL="228600" rtl="0" algn="l">
              <a:lnSpc>
                <a:spcPct val="90000"/>
              </a:lnSpc>
              <a:spcBef>
                <a:spcPts val="1000"/>
              </a:spcBef>
              <a:spcAft>
                <a:spcPts val="0"/>
              </a:spcAft>
              <a:buClr>
                <a:schemeClr val="lt1"/>
              </a:buClr>
              <a:buSzPct val="100000"/>
              <a:buNone/>
            </a:pPr>
            <a:r>
              <a:t/>
            </a:r>
            <a:endParaRPr/>
          </a:p>
        </p:txBody>
      </p:sp>
      <p:graphicFrame>
        <p:nvGraphicFramePr>
          <p:cNvPr descr="Alt text required" id="161" name="Google Shape;161;p21"/>
          <p:cNvGraphicFramePr/>
          <p:nvPr/>
        </p:nvGraphicFramePr>
        <p:xfrm>
          <a:off x="3576400" y="2597825"/>
          <a:ext cx="3000000" cy="3000000"/>
        </p:xfrm>
        <a:graphic>
          <a:graphicData uri="http://schemas.openxmlformats.org/drawingml/2006/table">
            <a:tbl>
              <a:tblPr firstCol="1" firstRow="1">
                <a:noFill/>
                <a:tableStyleId>{89A09C9C-403D-40CD-AD19-03C6D44B8345}</a:tableStyleId>
              </a:tblPr>
              <a:tblGrid>
                <a:gridCol w="4030425"/>
                <a:gridCol w="3804800"/>
              </a:tblGrid>
              <a:tr h="1769325">
                <a:tc>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solidFill>
                          <a:schemeClr val="dk1"/>
                        </a:solidFill>
                        <a:latin typeface="Century Gothic"/>
                        <a:ea typeface="Century Gothic"/>
                        <a:cs typeface="Century Gothic"/>
                        <a:sym typeface="Century Gothic"/>
                      </a:endParaRPr>
                    </a:p>
                    <a:p>
                      <a:pPr indent="0" lvl="0" marL="0" rtl="0" algn="ctr">
                        <a:lnSpc>
                          <a:spcPct val="115000"/>
                        </a:lnSpc>
                        <a:spcBef>
                          <a:spcPts val="1200"/>
                        </a:spcBef>
                        <a:spcAft>
                          <a:spcPts val="0"/>
                        </a:spcAft>
                        <a:buClr>
                          <a:schemeClr val="dk1"/>
                        </a:buClr>
                        <a:buSzPts val="1100"/>
                        <a:buFont typeface="Arial"/>
                        <a:buNone/>
                      </a:pPr>
                      <a:r>
                        <a:rPr lang="en-US" sz="1800">
                          <a:solidFill>
                            <a:schemeClr val="dk1"/>
                          </a:solidFill>
                          <a:latin typeface="Century Gothic"/>
                          <a:ea typeface="Century Gothic"/>
                          <a:cs typeface="Century Gothic"/>
                          <a:sym typeface="Century Gothic"/>
                        </a:rPr>
                        <a:t>STD-002, STD-006, STD-007, STD-008</a:t>
                      </a:r>
                      <a:endParaRPr sz="1800">
                        <a:solidFill>
                          <a:schemeClr val="dk1"/>
                        </a:solidFill>
                        <a:latin typeface="Century Gothic"/>
                        <a:ea typeface="Century Gothic"/>
                        <a:cs typeface="Century Gothic"/>
                        <a:sym typeface="Century Gothic"/>
                      </a:endParaRPr>
                    </a:p>
                    <a:p>
                      <a:pPr indent="0" lvl="0" marL="0" rtl="0" algn="ctr">
                        <a:lnSpc>
                          <a:spcPct val="115000"/>
                        </a:lnSpc>
                        <a:spcBef>
                          <a:spcPts val="1200"/>
                        </a:spcBef>
                        <a:spcAft>
                          <a:spcPts val="1200"/>
                        </a:spcAft>
                        <a:buClr>
                          <a:schemeClr val="dk1"/>
                        </a:buClr>
                        <a:buSzPts val="1100"/>
                        <a:buFont typeface="Arial"/>
                        <a:buNone/>
                      </a:pPr>
                      <a:r>
                        <a:t/>
                      </a:r>
                      <a:endParaRPr sz="1800">
                        <a:solidFill>
                          <a:schemeClr val="dk1"/>
                        </a:solidFill>
                        <a:latin typeface="Century Gothic"/>
                        <a:ea typeface="Century Gothic"/>
                        <a:cs typeface="Century Gothic"/>
                        <a:sym typeface="Century Gothic"/>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solidFill>
                          <a:schemeClr val="dk1"/>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3600"/>
                        <a:buFont typeface="Arial"/>
                        <a:buNone/>
                      </a:pPr>
                      <a:r>
                        <a:rPr lang="en-US" sz="1800">
                          <a:solidFill>
                            <a:schemeClr val="dk1"/>
                          </a:solidFill>
                          <a:latin typeface="Century Gothic"/>
                          <a:ea typeface="Century Gothic"/>
                          <a:cs typeface="Century Gothic"/>
                          <a:sym typeface="Century Gothic"/>
                        </a:rPr>
                        <a:t>STD-003, STD-004, STD-005, STD-009, STD-010 </a:t>
                      </a:r>
                      <a:endParaRPr sz="1800" u="none" cap="none" strike="noStrike">
                        <a:solidFill>
                          <a:schemeClr val="dk1"/>
                        </a:solidFill>
                        <a:latin typeface="Century Gothic"/>
                        <a:ea typeface="Century Gothic"/>
                        <a:cs typeface="Century Gothic"/>
                        <a:sym typeface="Century Gothic"/>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r h="1769325">
                <a:tc>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solidFill>
                          <a:schemeClr val="dk1"/>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3600"/>
                        <a:buFont typeface="Arial"/>
                        <a:buNone/>
                      </a:pPr>
                      <a:r>
                        <a:rPr lang="en-US" sz="1800">
                          <a:solidFill>
                            <a:schemeClr val="dk1"/>
                          </a:solidFill>
                          <a:latin typeface="Century Gothic"/>
                          <a:ea typeface="Century Gothic"/>
                          <a:cs typeface="Century Gothic"/>
                          <a:sym typeface="Century Gothic"/>
                        </a:rPr>
                        <a:t>N/A</a:t>
                      </a:r>
                      <a:endParaRPr sz="1800" u="none" cap="none" strike="noStrike">
                        <a:solidFill>
                          <a:schemeClr val="dk1"/>
                        </a:solidFill>
                        <a:latin typeface="Century Gothic"/>
                        <a:ea typeface="Century Gothic"/>
                        <a:cs typeface="Century Gothic"/>
                        <a:sym typeface="Century Gothic"/>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t/>
                      </a:r>
                      <a:endParaRPr sz="1800" u="none" cap="none" strike="noStrike">
                        <a:solidFill>
                          <a:schemeClr val="dk1"/>
                        </a:solidFill>
                        <a:latin typeface="Century Gothic"/>
                        <a:ea typeface="Century Gothic"/>
                        <a:cs typeface="Century Gothic"/>
                        <a:sym typeface="Century Gothic"/>
                      </a:endParaRPr>
                    </a:p>
                    <a:p>
                      <a:pPr indent="0" lvl="0" marL="0" rtl="0" algn="ctr">
                        <a:lnSpc>
                          <a:spcPct val="115000"/>
                        </a:lnSpc>
                        <a:spcBef>
                          <a:spcPts val="1200"/>
                        </a:spcBef>
                        <a:spcAft>
                          <a:spcPts val="0"/>
                        </a:spcAft>
                        <a:buClr>
                          <a:schemeClr val="dk1"/>
                        </a:buClr>
                        <a:buSzPts val="1100"/>
                        <a:buFont typeface="Arial"/>
                        <a:buNone/>
                      </a:pPr>
                      <a:r>
                        <a:rPr lang="en-US" sz="1800">
                          <a:solidFill>
                            <a:schemeClr val="dk1"/>
                          </a:solidFill>
                          <a:latin typeface="Century Gothic"/>
                          <a:ea typeface="Century Gothic"/>
                          <a:cs typeface="Century Gothic"/>
                          <a:sym typeface="Century Gothic"/>
                        </a:rPr>
                        <a:t>STD-001</a:t>
                      </a:r>
                      <a:endParaRPr sz="1800">
                        <a:solidFill>
                          <a:schemeClr val="dk1"/>
                        </a:solidFill>
                        <a:latin typeface="Century Gothic"/>
                        <a:ea typeface="Century Gothic"/>
                        <a:cs typeface="Century Gothic"/>
                        <a:sym typeface="Century Gothic"/>
                      </a:endParaRPr>
                    </a:p>
                    <a:p>
                      <a:pPr indent="0" lvl="0" marL="0" marR="0" rtl="0" algn="ctr">
                        <a:lnSpc>
                          <a:spcPct val="100000"/>
                        </a:lnSpc>
                        <a:spcBef>
                          <a:spcPts val="1200"/>
                        </a:spcBef>
                        <a:spcAft>
                          <a:spcPts val="0"/>
                        </a:spcAft>
                        <a:buClr>
                          <a:srgbClr val="000000"/>
                        </a:buClr>
                        <a:buSzPts val="3600"/>
                        <a:buFont typeface="Arial"/>
                        <a:buNone/>
                      </a:pPr>
                      <a:r>
                        <a:t/>
                      </a:r>
                      <a:endParaRPr sz="1800">
                        <a:solidFill>
                          <a:schemeClr val="dk1"/>
                        </a:solidFill>
                        <a:latin typeface="Century Gothic"/>
                        <a:ea typeface="Century Gothic"/>
                        <a:cs typeface="Century Gothic"/>
                        <a:sym typeface="Century Gothic"/>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bl>
          </a:graphicData>
        </a:graphic>
      </p:graphicFrame>
      <p:pic>
        <p:nvPicPr>
          <p:cNvPr descr="Green Pace logo" id="162" name="Google Shape;162;p2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163" name="Google Shape;163;p21"/>
          <p:cNvSpPr txBox="1"/>
          <p:nvPr/>
        </p:nvSpPr>
        <p:spPr>
          <a:xfrm>
            <a:off x="3666948" y="2057400"/>
            <a:ext cx="3939900" cy="2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lt1"/>
                </a:solidFill>
                <a:latin typeface="Century Gothic"/>
                <a:ea typeface="Century Gothic"/>
                <a:cs typeface="Century Gothic"/>
                <a:sym typeface="Century Gothic"/>
              </a:rPr>
              <a:t>Low/Medium Severity </a:t>
            </a:r>
            <a:endParaRPr sz="2200">
              <a:solidFill>
                <a:schemeClr val="lt1"/>
              </a:solidFill>
              <a:latin typeface="Century Gothic"/>
              <a:ea typeface="Century Gothic"/>
              <a:cs typeface="Century Gothic"/>
              <a:sym typeface="Century Gothic"/>
            </a:endParaRPr>
          </a:p>
        </p:txBody>
      </p:sp>
      <p:sp>
        <p:nvSpPr>
          <p:cNvPr id="164" name="Google Shape;164;p21"/>
          <p:cNvSpPr txBox="1"/>
          <p:nvPr/>
        </p:nvSpPr>
        <p:spPr>
          <a:xfrm>
            <a:off x="8627300" y="2057400"/>
            <a:ext cx="1948800" cy="2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lt1"/>
                </a:solidFill>
                <a:latin typeface="Century Gothic"/>
                <a:ea typeface="Century Gothic"/>
                <a:cs typeface="Century Gothic"/>
                <a:sym typeface="Century Gothic"/>
              </a:rPr>
              <a:t>High</a:t>
            </a:r>
            <a:r>
              <a:rPr lang="en-US" sz="2200">
                <a:solidFill>
                  <a:schemeClr val="lt1"/>
                </a:solidFill>
                <a:latin typeface="Century Gothic"/>
                <a:ea typeface="Century Gothic"/>
                <a:cs typeface="Century Gothic"/>
                <a:sym typeface="Century Gothic"/>
              </a:rPr>
              <a:t> Severity </a:t>
            </a:r>
            <a:endParaRPr sz="2200">
              <a:solidFill>
                <a:schemeClr val="lt1"/>
              </a:solidFill>
              <a:latin typeface="Century Gothic"/>
              <a:ea typeface="Century Gothic"/>
              <a:cs typeface="Century Gothic"/>
              <a:sym typeface="Century Gothic"/>
            </a:endParaRPr>
          </a:p>
        </p:txBody>
      </p:sp>
      <p:sp>
        <p:nvSpPr>
          <p:cNvPr id="165" name="Google Shape;165;p21"/>
          <p:cNvSpPr txBox="1"/>
          <p:nvPr/>
        </p:nvSpPr>
        <p:spPr>
          <a:xfrm rot="-5400000">
            <a:off x="2212300" y="4162700"/>
            <a:ext cx="1948800" cy="2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lt1"/>
                </a:solidFill>
                <a:latin typeface="Century Gothic"/>
                <a:ea typeface="Century Gothic"/>
                <a:cs typeface="Century Gothic"/>
                <a:sym typeface="Century Gothic"/>
              </a:rPr>
              <a:t>Likelihood </a:t>
            </a:r>
            <a:endParaRPr sz="2200">
              <a:solidFill>
                <a:schemeClr val="lt1"/>
              </a:solidFill>
              <a:latin typeface="Century Gothic"/>
              <a:ea typeface="Century Gothic"/>
              <a:cs typeface="Century Gothic"/>
              <a:sym typeface="Century Gothic"/>
            </a:endParaRPr>
          </a:p>
        </p:txBody>
      </p:sp>
      <p:cxnSp>
        <p:nvCxnSpPr>
          <p:cNvPr id="166" name="Google Shape;166;p21"/>
          <p:cNvCxnSpPr/>
          <p:nvPr/>
        </p:nvCxnSpPr>
        <p:spPr>
          <a:xfrm rot="10800000">
            <a:off x="3326800" y="3001950"/>
            <a:ext cx="0" cy="634200"/>
          </a:xfrm>
          <a:prstGeom prst="straightConnector1">
            <a:avLst/>
          </a:prstGeom>
          <a:noFill/>
          <a:ln cap="flat" cmpd="sng" w="28575">
            <a:solidFill>
              <a:schemeClr val="lt1"/>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10 PRINCIPLES</a:t>
            </a:r>
            <a:endParaRPr/>
          </a:p>
        </p:txBody>
      </p:sp>
      <p:sp>
        <p:nvSpPr>
          <p:cNvPr id="172" name="Google Shape;172;p2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AutoNum type="arabicPeriod"/>
            </a:pPr>
            <a:r>
              <a:rPr lang="en-US"/>
              <a:t>Validate Input Data : STD-002, 003, 006, 008, 009 </a:t>
            </a:r>
            <a:endParaRPr/>
          </a:p>
          <a:p>
            <a:pPr indent="-342900" lvl="0" marL="457200" rtl="0" algn="l">
              <a:lnSpc>
                <a:spcPct val="90000"/>
              </a:lnSpc>
              <a:spcBef>
                <a:spcPts val="0"/>
              </a:spcBef>
              <a:spcAft>
                <a:spcPts val="0"/>
              </a:spcAft>
              <a:buSzPts val="1800"/>
              <a:buAutoNum type="arabicPeriod"/>
            </a:pPr>
            <a:r>
              <a:rPr lang="en-US"/>
              <a:t>Heed Compiler Warnings: STD-001, 010</a:t>
            </a:r>
            <a:endParaRPr/>
          </a:p>
          <a:p>
            <a:pPr indent="-342900" lvl="0" marL="457200" rtl="0" algn="l">
              <a:lnSpc>
                <a:spcPct val="90000"/>
              </a:lnSpc>
              <a:spcBef>
                <a:spcPts val="0"/>
              </a:spcBef>
              <a:spcAft>
                <a:spcPts val="0"/>
              </a:spcAft>
              <a:buSzPts val="1800"/>
              <a:buAutoNum type="arabicPeriod"/>
            </a:pPr>
            <a:r>
              <a:rPr lang="en-US"/>
              <a:t>Architect and Design for Security Policies : STD-007</a:t>
            </a:r>
            <a:endParaRPr/>
          </a:p>
          <a:p>
            <a:pPr indent="-342900" lvl="0" marL="457200" rtl="0" algn="l">
              <a:lnSpc>
                <a:spcPct val="90000"/>
              </a:lnSpc>
              <a:spcBef>
                <a:spcPts val="0"/>
              </a:spcBef>
              <a:spcAft>
                <a:spcPts val="0"/>
              </a:spcAft>
              <a:buSzPts val="1800"/>
              <a:buAutoNum type="arabicPeriod"/>
            </a:pPr>
            <a:r>
              <a:rPr lang="en-US"/>
              <a:t>Keep It Simple : General practice </a:t>
            </a:r>
            <a:endParaRPr/>
          </a:p>
          <a:p>
            <a:pPr indent="-342900" lvl="0" marL="457200" rtl="0" algn="l">
              <a:lnSpc>
                <a:spcPct val="90000"/>
              </a:lnSpc>
              <a:spcBef>
                <a:spcPts val="0"/>
              </a:spcBef>
              <a:spcAft>
                <a:spcPts val="0"/>
              </a:spcAft>
              <a:buSzPts val="1800"/>
              <a:buAutoNum type="arabicPeriod"/>
            </a:pPr>
            <a:r>
              <a:rPr lang="en-US"/>
              <a:t>Default Deny : STD-002, 008 </a:t>
            </a:r>
            <a:endParaRPr/>
          </a:p>
          <a:p>
            <a:pPr indent="-342900" lvl="0" marL="457200" rtl="0" algn="l">
              <a:lnSpc>
                <a:spcPct val="90000"/>
              </a:lnSpc>
              <a:spcBef>
                <a:spcPts val="0"/>
              </a:spcBef>
              <a:spcAft>
                <a:spcPts val="0"/>
              </a:spcAft>
              <a:buSzPts val="1800"/>
              <a:buAutoNum type="arabicPeriod"/>
            </a:pPr>
            <a:r>
              <a:rPr lang="en-US"/>
              <a:t>Principle of Least Privilege : STD-004</a:t>
            </a:r>
            <a:endParaRPr/>
          </a:p>
          <a:p>
            <a:pPr indent="-342900" lvl="0" marL="457200" rtl="0" algn="l">
              <a:lnSpc>
                <a:spcPct val="90000"/>
              </a:lnSpc>
              <a:spcBef>
                <a:spcPts val="0"/>
              </a:spcBef>
              <a:spcAft>
                <a:spcPts val="0"/>
              </a:spcAft>
              <a:buSzPts val="1800"/>
              <a:buAutoNum type="arabicPeriod"/>
            </a:pPr>
            <a:r>
              <a:rPr lang="en-US"/>
              <a:t>Sanitize Data Sent to Other Systems : STD-004 </a:t>
            </a:r>
            <a:endParaRPr/>
          </a:p>
          <a:p>
            <a:pPr indent="-342900" lvl="0" marL="457200" rtl="0" algn="l">
              <a:lnSpc>
                <a:spcPct val="90000"/>
              </a:lnSpc>
              <a:spcBef>
                <a:spcPts val="0"/>
              </a:spcBef>
              <a:spcAft>
                <a:spcPts val="0"/>
              </a:spcAft>
              <a:buSzPts val="1800"/>
              <a:buAutoNum type="arabicPeriod"/>
            </a:pPr>
            <a:r>
              <a:rPr lang="en-US"/>
              <a:t>Practice Defense in Depth : STD-003</a:t>
            </a:r>
            <a:endParaRPr/>
          </a:p>
          <a:p>
            <a:pPr indent="-342900" lvl="0" marL="457200" rtl="0" algn="l">
              <a:lnSpc>
                <a:spcPct val="90000"/>
              </a:lnSpc>
              <a:spcBef>
                <a:spcPts val="0"/>
              </a:spcBef>
              <a:spcAft>
                <a:spcPts val="0"/>
              </a:spcAft>
              <a:buSzPts val="1800"/>
              <a:buAutoNum type="arabicPeriod"/>
            </a:pPr>
            <a:r>
              <a:rPr lang="en-US"/>
              <a:t>Effective Quality Assurance : STD-006, 007, 009 </a:t>
            </a:r>
            <a:endParaRPr/>
          </a:p>
          <a:p>
            <a:pPr indent="-342900" lvl="0" marL="457200" rtl="0" algn="l">
              <a:lnSpc>
                <a:spcPct val="90000"/>
              </a:lnSpc>
              <a:spcBef>
                <a:spcPts val="0"/>
              </a:spcBef>
              <a:spcAft>
                <a:spcPts val="0"/>
              </a:spcAft>
              <a:buSzPts val="1800"/>
              <a:buAutoNum type="arabicPeriod"/>
            </a:pPr>
            <a:r>
              <a:rPr lang="en-US"/>
              <a:t>Adopt a Secure Coding Standard STD-001, 005, 010 </a:t>
            </a:r>
            <a:endParaRPr/>
          </a:p>
          <a:p>
            <a:pPr indent="0" lvl="0" marL="0" rtl="0" algn="l">
              <a:lnSpc>
                <a:spcPct val="90000"/>
              </a:lnSpc>
              <a:spcBef>
                <a:spcPts val="0"/>
              </a:spcBef>
              <a:spcAft>
                <a:spcPts val="0"/>
              </a:spcAft>
              <a:buNone/>
            </a:pPr>
            <a:r>
              <a:t/>
            </a:r>
            <a:endParaRPr/>
          </a:p>
        </p:txBody>
      </p:sp>
      <p:pic>
        <p:nvPicPr>
          <p:cNvPr descr="Green Pace logo" id="173" name="Google Shape;173;p2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a:t>
            </a:r>
            <a:endParaRPr/>
          </a:p>
        </p:txBody>
      </p:sp>
      <p:sp>
        <p:nvSpPr>
          <p:cNvPr id="179" name="Google Shape;179;p23"/>
          <p:cNvSpPr txBox="1"/>
          <p:nvPr>
            <p:ph idx="1" type="body"/>
          </p:nvPr>
        </p:nvSpPr>
        <p:spPr>
          <a:xfrm>
            <a:off x="685800" y="2194550"/>
            <a:ext cx="5022300" cy="4024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a:t>Coding standards are prioritized using severity, likelihood, and overall cost. Higher levels represent vulnerabilities that could cause greater damage or are more likely to occur. String correctness and SQL injection are looked at first because both have higher severity and likelihood than the others.</a:t>
            </a:r>
            <a:endParaRPr/>
          </a:p>
          <a:p>
            <a:pPr indent="0" lvl="0" marL="457200" rtl="0" algn="l">
              <a:lnSpc>
                <a:spcPct val="90000"/>
              </a:lnSpc>
              <a:spcBef>
                <a:spcPts val="1200"/>
              </a:spcBef>
              <a:spcAft>
                <a:spcPts val="0"/>
              </a:spcAft>
              <a:buNone/>
            </a:pPr>
            <a:r>
              <a:t/>
            </a:r>
            <a:endParaRPr/>
          </a:p>
        </p:txBody>
      </p:sp>
      <p:pic>
        <p:nvPicPr>
          <p:cNvPr descr="Green Pace logo" id="180" name="Google Shape;180;p2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graphicFrame>
        <p:nvGraphicFramePr>
          <p:cNvPr id="181" name="Google Shape;181;p23"/>
          <p:cNvGraphicFramePr/>
          <p:nvPr/>
        </p:nvGraphicFramePr>
        <p:xfrm>
          <a:off x="5976400" y="1694900"/>
          <a:ext cx="3000000" cy="3000000"/>
        </p:xfrm>
        <a:graphic>
          <a:graphicData uri="http://schemas.openxmlformats.org/drawingml/2006/table">
            <a:tbl>
              <a:tblPr>
                <a:noFill/>
                <a:tableStyleId>{C14E2DB7-E4B3-4225-9AB8-58190AD5C0B0}</a:tableStyleId>
              </a:tblPr>
              <a:tblGrid>
                <a:gridCol w="1386275"/>
                <a:gridCol w="4608000"/>
              </a:tblGrid>
              <a:tr h="305400">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Priority</a:t>
                      </a:r>
                      <a:endParaRPr sz="12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Coding Standard</a:t>
                      </a:r>
                      <a:endParaRPr sz="1200">
                        <a:solidFill>
                          <a:schemeClr val="lt1"/>
                        </a:solidFill>
                        <a:latin typeface="Century Gothic"/>
                        <a:ea typeface="Century Gothic"/>
                        <a:cs typeface="Century Gothic"/>
                        <a:sym typeface="Century Gothic"/>
                      </a:endParaRPr>
                    </a:p>
                  </a:txBody>
                  <a:tcPr marT="91425" marB="91425" marR="91425" marL="91425"/>
                </a:tc>
              </a:tr>
              <a:tr h="611975">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5 – Highest </a:t>
                      </a:r>
                      <a:endParaRPr sz="12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STD-003: String Correctness</a:t>
                      </a:r>
                      <a:endParaRPr sz="1200">
                        <a:solidFill>
                          <a:schemeClr val="lt1"/>
                        </a:solidFill>
                        <a:latin typeface="Century Gothic"/>
                        <a:ea typeface="Century Gothic"/>
                        <a:cs typeface="Century Gothic"/>
                        <a:sym typeface="Century Gothic"/>
                      </a:endParaRPr>
                    </a:p>
                    <a:p>
                      <a:pPr indent="0" lvl="0" marL="0" rtl="0" algn="l">
                        <a:lnSpc>
                          <a:spcPct val="115000"/>
                        </a:lnSpc>
                        <a:spcBef>
                          <a:spcPts val="1200"/>
                        </a:spcBef>
                        <a:spcAft>
                          <a:spcPts val="1200"/>
                        </a:spcAft>
                        <a:buNone/>
                      </a:pPr>
                      <a:r>
                        <a:rPr lang="en-US" sz="1200">
                          <a:solidFill>
                            <a:schemeClr val="lt1"/>
                          </a:solidFill>
                          <a:latin typeface="Century Gothic"/>
                          <a:ea typeface="Century Gothic"/>
                          <a:cs typeface="Century Gothic"/>
                          <a:sym typeface="Century Gothic"/>
                        </a:rPr>
                        <a:t>STD-004: SQL Injection</a:t>
                      </a:r>
                      <a:endParaRPr sz="1200">
                        <a:solidFill>
                          <a:schemeClr val="lt1"/>
                        </a:solidFill>
                        <a:latin typeface="Century Gothic"/>
                        <a:ea typeface="Century Gothic"/>
                        <a:cs typeface="Century Gothic"/>
                        <a:sym typeface="Century Gothic"/>
                      </a:endParaRPr>
                    </a:p>
                  </a:txBody>
                  <a:tcPr marT="91425" marB="91425" marR="91425" marL="91425"/>
                </a:tc>
              </a:tr>
              <a:tr h="1225200">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4 – High </a:t>
                      </a:r>
                      <a:endParaRPr sz="12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STD-005: Memory Protection</a:t>
                      </a:r>
                      <a:endParaRPr sz="1200">
                        <a:solidFill>
                          <a:schemeClr val="lt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STD-009: Data Value (Overflow)</a:t>
                      </a:r>
                      <a:endParaRPr sz="1200">
                        <a:solidFill>
                          <a:schemeClr val="lt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STD-010: Data Value (Initialization)</a:t>
                      </a:r>
                      <a:endParaRPr sz="1200">
                        <a:solidFill>
                          <a:schemeClr val="lt1"/>
                        </a:solidFill>
                        <a:latin typeface="Century Gothic"/>
                        <a:ea typeface="Century Gothic"/>
                        <a:cs typeface="Century Gothic"/>
                        <a:sym typeface="Century Gothic"/>
                      </a:endParaRPr>
                    </a:p>
                    <a:p>
                      <a:pPr indent="0" lvl="0" marL="0" rtl="0" algn="l">
                        <a:spcBef>
                          <a:spcPts val="1200"/>
                        </a:spcBef>
                        <a:spcAft>
                          <a:spcPts val="0"/>
                        </a:spcAft>
                        <a:buNone/>
                      </a:pPr>
                      <a:r>
                        <a:t/>
                      </a:r>
                      <a:endParaRPr sz="1200">
                        <a:solidFill>
                          <a:schemeClr val="lt1"/>
                        </a:solidFill>
                        <a:latin typeface="Century Gothic"/>
                        <a:ea typeface="Century Gothic"/>
                        <a:cs typeface="Century Gothic"/>
                        <a:sym typeface="Century Gothic"/>
                      </a:endParaRPr>
                    </a:p>
                  </a:txBody>
                  <a:tcPr marT="91425" marB="91425" marR="91425" marL="91425"/>
                </a:tc>
              </a:tr>
              <a:tr h="1531800">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3 – Medium </a:t>
                      </a:r>
                      <a:endParaRPr sz="12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STD-002: Data Value (Validation)</a:t>
                      </a:r>
                      <a:endParaRPr sz="1200">
                        <a:solidFill>
                          <a:schemeClr val="lt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STD-006: Assertions</a:t>
                      </a:r>
                      <a:endParaRPr sz="1200">
                        <a:solidFill>
                          <a:schemeClr val="lt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STD-007: Exceptions</a:t>
                      </a:r>
                      <a:endParaRPr sz="1200">
                        <a:solidFill>
                          <a:schemeClr val="lt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lt1"/>
                          </a:solidFill>
                          <a:latin typeface="Century Gothic"/>
                          <a:ea typeface="Century Gothic"/>
                          <a:cs typeface="Century Gothic"/>
                          <a:sym typeface="Century Gothic"/>
                        </a:rPr>
                        <a:t>STD-008: Memory (Null Pointers)</a:t>
                      </a:r>
                      <a:endParaRPr sz="1200">
                        <a:solidFill>
                          <a:schemeClr val="lt1"/>
                        </a:solidFill>
                        <a:latin typeface="Century Gothic"/>
                        <a:ea typeface="Century Gothic"/>
                        <a:cs typeface="Century Gothic"/>
                        <a:sym typeface="Century Gothic"/>
                      </a:endParaRPr>
                    </a:p>
                    <a:p>
                      <a:pPr indent="0" lvl="0" marL="0" rtl="0" algn="l">
                        <a:spcBef>
                          <a:spcPts val="1200"/>
                        </a:spcBef>
                        <a:spcAft>
                          <a:spcPts val="0"/>
                        </a:spcAft>
                        <a:buNone/>
                      </a:pPr>
                      <a:r>
                        <a:t/>
                      </a:r>
                      <a:endParaRPr sz="1200">
                        <a:solidFill>
                          <a:schemeClr val="lt1"/>
                        </a:solidFill>
                        <a:latin typeface="Century Gothic"/>
                        <a:ea typeface="Century Gothic"/>
                        <a:cs typeface="Century Gothic"/>
                        <a:sym typeface="Century Gothic"/>
                      </a:endParaRPr>
                    </a:p>
                  </a:txBody>
                  <a:tcPr marT="91425" marB="91425" marR="91425" marL="91425"/>
                </a:tc>
              </a:tr>
              <a:tr h="305400">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2 – Lower </a:t>
                      </a:r>
                      <a:endParaRPr sz="12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l">
                        <a:spcBef>
                          <a:spcPts val="0"/>
                        </a:spcBef>
                        <a:spcAft>
                          <a:spcPts val="0"/>
                        </a:spcAft>
                        <a:buNone/>
                      </a:pPr>
                      <a:r>
                        <a:rPr lang="en-US" sz="1200">
                          <a:solidFill>
                            <a:schemeClr val="lt1"/>
                          </a:solidFill>
                          <a:latin typeface="Century Gothic"/>
                          <a:ea typeface="Century Gothic"/>
                          <a:cs typeface="Century Gothic"/>
                          <a:sym typeface="Century Gothic"/>
                        </a:rPr>
                        <a:t>STD-001: Data Type </a:t>
                      </a:r>
                      <a:endParaRPr sz="1200">
                        <a:solidFill>
                          <a:schemeClr val="lt1"/>
                        </a:solidFill>
                        <a:latin typeface="Century Gothic"/>
                        <a:ea typeface="Century Gothic"/>
                        <a:cs typeface="Century Gothic"/>
                        <a:sym typeface="Century Gothic"/>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ENCRYPTION POLICIES</a:t>
            </a:r>
            <a:endParaRPr/>
          </a:p>
        </p:txBody>
      </p:sp>
      <p:sp>
        <p:nvSpPr>
          <p:cNvPr id="187" name="Google Shape;187;p24"/>
          <p:cNvSpPr txBox="1"/>
          <p:nvPr>
            <p:ph idx="1" type="body"/>
          </p:nvPr>
        </p:nvSpPr>
        <p:spPr>
          <a:xfrm>
            <a:off x="685800" y="2194550"/>
            <a:ext cx="4792200" cy="4024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000"/>
              <a:t>Encryption helps to protect sensitive data and information from unauthorized access and use.  This data should be protected at all stages including during transmission, in storage, and while processing. These policies help prevent data exposure and support Green Pace’s DiD strategy. </a:t>
            </a:r>
            <a:endParaRPr sz="1600"/>
          </a:p>
          <a:p>
            <a:pPr indent="0" lvl="0" marL="0" rtl="0" algn="l">
              <a:lnSpc>
                <a:spcPct val="90000"/>
              </a:lnSpc>
              <a:spcBef>
                <a:spcPts val="1000"/>
              </a:spcBef>
              <a:spcAft>
                <a:spcPts val="0"/>
              </a:spcAft>
              <a:buClr>
                <a:schemeClr val="lt1"/>
              </a:buClr>
              <a:buSzPts val="1600"/>
              <a:buNone/>
            </a:pPr>
            <a:r>
              <a:t/>
            </a:r>
            <a:endParaRPr sz="1600"/>
          </a:p>
          <a:p>
            <a:pPr indent="-88900" lvl="0" marL="228600" rtl="0" algn="l">
              <a:lnSpc>
                <a:spcPct val="90000"/>
              </a:lnSpc>
              <a:spcBef>
                <a:spcPts val="1000"/>
              </a:spcBef>
              <a:spcAft>
                <a:spcPts val="0"/>
              </a:spcAft>
              <a:buClr>
                <a:schemeClr val="lt1"/>
              </a:buClr>
              <a:buSzPts val="2200"/>
              <a:buNone/>
            </a:pPr>
            <a:r>
              <a:t/>
            </a:r>
            <a:endParaRPr/>
          </a:p>
        </p:txBody>
      </p:sp>
      <p:pic>
        <p:nvPicPr>
          <p:cNvPr descr="Green Pace logo" id="188" name="Google Shape;188;p2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graphicFrame>
        <p:nvGraphicFramePr>
          <p:cNvPr id="189" name="Google Shape;189;p24"/>
          <p:cNvGraphicFramePr/>
          <p:nvPr/>
        </p:nvGraphicFramePr>
        <p:xfrm>
          <a:off x="4813275" y="1968375"/>
          <a:ext cx="3000000" cy="3000000"/>
        </p:xfrm>
        <a:graphic>
          <a:graphicData uri="http://schemas.openxmlformats.org/drawingml/2006/table">
            <a:tbl>
              <a:tblPr>
                <a:noFill/>
                <a:tableStyleId>{D31FC68B-7FF3-440C-8EE5-E7854D669411}</a:tableStyleId>
              </a:tblPr>
              <a:tblGrid>
                <a:gridCol w="3521950"/>
                <a:gridCol w="3521950"/>
              </a:tblGrid>
              <a:tr h="635725">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Encryption Type</a:t>
                      </a:r>
                      <a:endParaRPr sz="1200">
                        <a:solidFill>
                          <a:schemeClr val="lt1"/>
                        </a:solidFill>
                        <a:latin typeface="Century Gothic"/>
                        <a:ea typeface="Century Gothic"/>
                        <a:cs typeface="Century Gothic"/>
                        <a:sym typeface="Century Gothic"/>
                      </a:endParaRPr>
                    </a:p>
                  </a:txBody>
                  <a:tcPr marT="19050" marB="19050" marR="28575" marL="28575" anchor="ctr"/>
                </a:tc>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Policy and Example</a:t>
                      </a:r>
                      <a:endParaRPr sz="1200">
                        <a:solidFill>
                          <a:schemeClr val="lt1"/>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tcPr>
                </a:tc>
              </a:tr>
              <a:tr h="945475">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In Flight</a:t>
                      </a:r>
                      <a:endParaRPr sz="1200">
                        <a:solidFill>
                          <a:schemeClr val="lt1"/>
                        </a:solidFill>
                        <a:latin typeface="Century Gothic"/>
                        <a:ea typeface="Century Gothic"/>
                        <a:cs typeface="Century Gothic"/>
                        <a:sym typeface="Century Gothic"/>
                      </a:endParaRPr>
                    </a:p>
                  </a:txBody>
                  <a:tcPr marT="19050" marB="19050" marR="28575" marL="28575" anchor="ctr"/>
                </a:tc>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Use TLS 1.2 or higher to protect data being transmitted. Example: Securing communication between users and Green Pace servers.</a:t>
                      </a:r>
                      <a:endParaRPr sz="1200">
                        <a:solidFill>
                          <a:schemeClr val="lt1"/>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tcPr>
                </a:tc>
              </a:tr>
              <a:tr h="945475">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At Rest</a:t>
                      </a:r>
                      <a:endParaRPr sz="1200">
                        <a:solidFill>
                          <a:schemeClr val="lt1"/>
                        </a:solidFill>
                        <a:latin typeface="Century Gothic"/>
                        <a:ea typeface="Century Gothic"/>
                        <a:cs typeface="Century Gothic"/>
                        <a:sym typeface="Century Gothic"/>
                      </a:endParaRPr>
                    </a:p>
                  </a:txBody>
                  <a:tcPr marT="19050" marB="19050" marR="28575" marL="28575" anchor="ctr"/>
                </a:tc>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Use AES-256 encryption to protect stored sensitive information. Example: Encrypting databases and backups containing customer data</a:t>
                      </a:r>
                      <a:endParaRPr sz="1200">
                        <a:solidFill>
                          <a:schemeClr val="lt1"/>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tcPr>
                </a:tc>
              </a:tr>
              <a:tr h="945475">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In Use</a:t>
                      </a:r>
                      <a:endParaRPr sz="1200">
                        <a:solidFill>
                          <a:schemeClr val="lt1"/>
                        </a:solidFill>
                        <a:latin typeface="Century Gothic"/>
                        <a:ea typeface="Century Gothic"/>
                        <a:cs typeface="Century Gothic"/>
                        <a:sym typeface="Century Gothic"/>
                      </a:endParaRPr>
                    </a:p>
                  </a:txBody>
                  <a:tcPr marT="19050" marB="19050" marR="28575" marL="28575" anchor="ctr"/>
                </a:tc>
                <a:tc>
                  <a:txBody>
                    <a:bodyPr/>
                    <a:lstStyle/>
                    <a:p>
                      <a:pPr indent="0" lvl="0" marL="0" rtl="0" algn="ctr">
                        <a:lnSpc>
                          <a:spcPct val="115000"/>
                        </a:lnSpc>
                        <a:spcBef>
                          <a:spcPts val="0"/>
                        </a:spcBef>
                        <a:spcAft>
                          <a:spcPts val="0"/>
                        </a:spcAft>
                        <a:buNone/>
                      </a:pPr>
                      <a:r>
                        <a:rPr lang="en-US" sz="1200">
                          <a:solidFill>
                            <a:schemeClr val="lt1"/>
                          </a:solidFill>
                          <a:latin typeface="Century Gothic"/>
                          <a:ea typeface="Century Gothic"/>
                          <a:cs typeface="Century Gothic"/>
                          <a:sym typeface="Century Gothic"/>
                        </a:rPr>
                        <a:t>Limit access to sensitive data while applications process it. Example: Restricting memory access and clearing sensitive information when no longer needed</a:t>
                      </a:r>
                      <a:endParaRPr sz="1200">
                        <a:solidFill>
                          <a:schemeClr val="lt1"/>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TRIPLE-A POLICIES</a:t>
            </a:r>
            <a:endParaRPr/>
          </a:p>
        </p:txBody>
      </p:sp>
      <p:sp>
        <p:nvSpPr>
          <p:cNvPr id="195" name="Google Shape;195;p25"/>
          <p:cNvSpPr txBox="1"/>
          <p:nvPr>
            <p:ph idx="1" type="body"/>
          </p:nvPr>
        </p:nvSpPr>
        <p:spPr>
          <a:xfrm>
            <a:off x="455975" y="2231325"/>
            <a:ext cx="3771900" cy="40242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rPr lang="en-US" sz="2400"/>
              <a:t>Utilizing the triple-A framework helps protect Green Pace systems by first verifying user identities, then limiting access to resources based on authorizations, and finally tracking all user activity. </a:t>
            </a:r>
            <a:endParaRPr/>
          </a:p>
        </p:txBody>
      </p:sp>
      <p:pic>
        <p:nvPicPr>
          <p:cNvPr descr="Green Pace logo" id="196" name="Google Shape;196;p25"/>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graphicFrame>
        <p:nvGraphicFramePr>
          <p:cNvPr id="197" name="Google Shape;197;p25"/>
          <p:cNvGraphicFramePr/>
          <p:nvPr/>
        </p:nvGraphicFramePr>
        <p:xfrm>
          <a:off x="5870450" y="2229725"/>
          <a:ext cx="3000000" cy="3000000"/>
        </p:xfrm>
        <a:graphic>
          <a:graphicData uri="http://schemas.openxmlformats.org/drawingml/2006/table">
            <a:tbl>
              <a:tblPr>
                <a:noFill/>
                <a:tableStyleId>{D31FC68B-7FF3-440C-8EE5-E7854D669411}</a:tableStyleId>
              </a:tblPr>
              <a:tblGrid>
                <a:gridCol w="3085300"/>
                <a:gridCol w="3085300"/>
              </a:tblGrid>
              <a:tr h="409575">
                <a:tc>
                  <a:txBody>
                    <a:bodyPr/>
                    <a:lstStyle/>
                    <a:p>
                      <a:pPr indent="0" lvl="0" marL="0" rtl="0" algn="ctr">
                        <a:lnSpc>
                          <a:spcPct val="115000"/>
                        </a:lnSpc>
                        <a:spcBef>
                          <a:spcPts val="0"/>
                        </a:spcBef>
                        <a:spcAft>
                          <a:spcPts val="0"/>
                        </a:spcAft>
                        <a:buNone/>
                      </a:pPr>
                      <a:r>
                        <a:rPr lang="en-US" sz="1200">
                          <a:solidFill>
                            <a:srgbClr val="FFFFFF"/>
                          </a:solidFill>
                        </a:rPr>
                        <a:t>Triple-A Component</a:t>
                      </a:r>
                      <a:endParaRPr sz="1200">
                        <a:solidFill>
                          <a:srgbClr val="FFFFFF"/>
                        </a:solidFill>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sz="1200">
                          <a:solidFill>
                            <a:srgbClr val="FFFFFF"/>
                          </a:solidFill>
                        </a:rPr>
                        <a:t>Policy and Example</a:t>
                      </a:r>
                      <a:endParaRPr sz="1200">
                        <a:solidFill>
                          <a:srgbClr val="FFFFFF"/>
                        </a:solidFill>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228600">
                <a:tc>
                  <a:txBody>
                    <a:bodyPr/>
                    <a:lstStyle/>
                    <a:p>
                      <a:pPr indent="0" lvl="0" marL="0" rtl="0" algn="ctr">
                        <a:lnSpc>
                          <a:spcPct val="115000"/>
                        </a:lnSpc>
                        <a:spcBef>
                          <a:spcPts val="0"/>
                        </a:spcBef>
                        <a:spcAft>
                          <a:spcPts val="0"/>
                        </a:spcAft>
                        <a:buNone/>
                      </a:pPr>
                      <a:r>
                        <a:rPr lang="en-US" sz="1200">
                          <a:solidFill>
                            <a:srgbClr val="FFFFFF"/>
                          </a:solidFill>
                        </a:rPr>
                        <a:t>Authentication</a:t>
                      </a:r>
                      <a:endParaRPr sz="1200">
                        <a:solidFill>
                          <a:srgbClr val="FFFFFF"/>
                        </a:solidFill>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sz="1200">
                          <a:solidFill>
                            <a:srgbClr val="FFFFFF"/>
                          </a:solidFill>
                        </a:rPr>
                        <a:t>Verify user identities before allowing access. Example: Require secure passwords and MFA for developer accounts.</a:t>
                      </a:r>
                      <a:endParaRPr sz="1200">
                        <a:solidFill>
                          <a:srgbClr val="FFFFFF"/>
                        </a:solidFill>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228600">
                <a:tc>
                  <a:txBody>
                    <a:bodyPr/>
                    <a:lstStyle/>
                    <a:p>
                      <a:pPr indent="0" lvl="0" marL="0" rtl="0" algn="ctr">
                        <a:lnSpc>
                          <a:spcPct val="115000"/>
                        </a:lnSpc>
                        <a:spcBef>
                          <a:spcPts val="0"/>
                        </a:spcBef>
                        <a:spcAft>
                          <a:spcPts val="0"/>
                        </a:spcAft>
                        <a:buNone/>
                      </a:pPr>
                      <a:r>
                        <a:rPr lang="en-US" sz="1200">
                          <a:solidFill>
                            <a:srgbClr val="FFFFFF"/>
                          </a:solidFill>
                        </a:rPr>
                        <a:t>Authorization</a:t>
                      </a:r>
                      <a:endParaRPr sz="1200">
                        <a:solidFill>
                          <a:srgbClr val="FFFFFF"/>
                        </a:solidFill>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sz="1200">
                          <a:solidFill>
                            <a:srgbClr val="FFFFFF"/>
                          </a:solidFill>
                        </a:rPr>
                        <a:t>Restrict access based on user roles and permissions. Example: Developers should only access systems and data needed for their jobs.</a:t>
                      </a:r>
                      <a:endParaRPr sz="1200">
                        <a:solidFill>
                          <a:srgbClr val="FFFFFF"/>
                        </a:solidFill>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228600">
                <a:tc>
                  <a:txBody>
                    <a:bodyPr/>
                    <a:lstStyle/>
                    <a:p>
                      <a:pPr indent="0" lvl="0" marL="0" rtl="0" algn="ctr">
                        <a:lnSpc>
                          <a:spcPct val="115000"/>
                        </a:lnSpc>
                        <a:spcBef>
                          <a:spcPts val="0"/>
                        </a:spcBef>
                        <a:spcAft>
                          <a:spcPts val="0"/>
                        </a:spcAft>
                        <a:buNone/>
                      </a:pPr>
                      <a:r>
                        <a:rPr lang="en-US" sz="1200">
                          <a:solidFill>
                            <a:srgbClr val="FFFFFF"/>
                          </a:solidFill>
                        </a:rPr>
                        <a:t>Accounting</a:t>
                      </a:r>
                      <a:endParaRPr sz="1200">
                        <a:solidFill>
                          <a:srgbClr val="FFFFFF"/>
                        </a:solidFill>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sz="1200">
                          <a:solidFill>
                            <a:srgbClr val="FFFFFF"/>
                          </a:solidFill>
                        </a:rPr>
                        <a:t>Record and monitor user activity to identify suspicious behavior. Example: Log failed login attempts, database access, and administrative changes.</a:t>
                      </a:r>
                      <a:endParaRPr sz="1200">
                        <a:solidFill>
                          <a:srgbClr val="FFFFFF"/>
                        </a:solidFill>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685800" y="764375"/>
            <a:ext cx="108204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sz="2500"/>
              <a:t>Does the program correctly add numbers without overflowing? </a:t>
            </a:r>
            <a:endParaRPr sz="2500"/>
          </a:p>
        </p:txBody>
      </p:sp>
      <p:sp>
        <p:nvSpPr>
          <p:cNvPr id="203" name="Google Shape;203;p26"/>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600">
                <a:solidFill>
                  <a:srgbClr val="FFFFFF"/>
                </a:solidFill>
              </a:rPr>
              <a:t>Vulnerability: Integer Overflow (STD-009)</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Test Type: Positive/Negative Test</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Purpose: Verify that the program detects overflow and prevents an invalid result.</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Further Testing: Test additional valid inputs and different integer data types.</a:t>
            </a:r>
            <a:endParaRPr sz="1600">
              <a:solidFill>
                <a:srgbClr val="FFFFFF"/>
              </a:solidFill>
            </a:endParaRPr>
          </a:p>
          <a:p>
            <a:pPr indent="0" lvl="0" marL="0" rtl="0" algn="l">
              <a:lnSpc>
                <a:spcPct val="90000"/>
              </a:lnSpc>
              <a:spcBef>
                <a:spcPts val="1000"/>
              </a:spcBef>
              <a:spcAft>
                <a:spcPts val="0"/>
              </a:spcAft>
              <a:buSzPts val="1800"/>
              <a:buNone/>
            </a:pPr>
            <a:r>
              <a:t/>
            </a:r>
            <a:endParaRPr/>
          </a:p>
        </p:txBody>
      </p:sp>
      <p:pic>
        <p:nvPicPr>
          <p:cNvPr descr="Green Pace logo" id="204" name="Google Shape;204;p26"/>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pic>
        <p:nvPicPr>
          <p:cNvPr id="205" name="Google Shape;205;p26"/>
          <p:cNvPicPr preferRelativeResize="0"/>
          <p:nvPr/>
        </p:nvPicPr>
        <p:blipFill>
          <a:blip r:embed="rId4">
            <a:alphaModFix/>
          </a:blip>
          <a:stretch>
            <a:fillRect/>
          </a:stretch>
        </p:blipFill>
        <p:spPr>
          <a:xfrm>
            <a:off x="869450" y="4050250"/>
            <a:ext cx="9363125" cy="1544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type="title"/>
          </p:nvPr>
        </p:nvSpPr>
        <p:spPr>
          <a:xfrm>
            <a:off x="685800" y="764375"/>
            <a:ext cx="108204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sz="2500"/>
              <a:t>Does the program detect overflow with larger integer values? </a:t>
            </a:r>
            <a:r>
              <a:rPr lang="en-US" sz="2500"/>
              <a:t> </a:t>
            </a:r>
            <a:endParaRPr sz="2500"/>
          </a:p>
        </p:txBody>
      </p:sp>
      <p:sp>
        <p:nvSpPr>
          <p:cNvPr id="211" name="Google Shape;211;p27"/>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600">
                <a:solidFill>
                  <a:srgbClr val="FFFFFF"/>
                </a:solidFill>
              </a:rPr>
              <a:t>Vulnerability: Integer Overflow (STD-009)</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Test Type: Positive/Negative Test</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Purpose: </a:t>
            </a:r>
            <a:r>
              <a:rPr lang="en-US" sz="1600">
                <a:solidFill>
                  <a:srgbClr val="FFFFFF"/>
                </a:solidFill>
              </a:rPr>
              <a:t>Verify that the program detects overflow when calculations approach the maximum integer value.</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Further Testing: </a:t>
            </a:r>
            <a:r>
              <a:rPr lang="en-US" sz="1600">
                <a:solidFill>
                  <a:srgbClr val="FFFFFF"/>
                </a:solidFill>
              </a:rPr>
              <a:t>Test values near the maximum integer limit and verify that overflow is prevented.</a:t>
            </a:r>
            <a:endParaRPr sz="1600">
              <a:solidFill>
                <a:srgbClr val="FFFFFF"/>
              </a:solidFill>
            </a:endParaRPr>
          </a:p>
          <a:p>
            <a:pPr indent="0" lvl="0" marL="0" rtl="0" algn="l">
              <a:lnSpc>
                <a:spcPct val="115000"/>
              </a:lnSpc>
              <a:spcBef>
                <a:spcPts val="0"/>
              </a:spcBef>
              <a:spcAft>
                <a:spcPts val="0"/>
              </a:spcAft>
              <a:buNone/>
            </a:pPr>
            <a:r>
              <a:t/>
            </a:r>
            <a:endParaRPr sz="1600">
              <a:solidFill>
                <a:srgbClr val="FFFFFF"/>
              </a:solidFill>
            </a:endParaRPr>
          </a:p>
          <a:p>
            <a:pPr indent="0" lvl="0" marL="0" rtl="0" algn="l">
              <a:lnSpc>
                <a:spcPct val="90000"/>
              </a:lnSpc>
              <a:spcBef>
                <a:spcPts val="1000"/>
              </a:spcBef>
              <a:spcAft>
                <a:spcPts val="0"/>
              </a:spcAft>
              <a:buSzPts val="1800"/>
              <a:buNone/>
            </a:pPr>
            <a:r>
              <a:t/>
            </a:r>
            <a:endParaRPr/>
          </a:p>
        </p:txBody>
      </p:sp>
      <p:pic>
        <p:nvPicPr>
          <p:cNvPr descr="Green Pace logo" id="212" name="Google Shape;212;p27"/>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13" name="Google Shape;213;p27"/>
          <p:cNvPicPr preferRelativeResize="0"/>
          <p:nvPr/>
        </p:nvPicPr>
        <p:blipFill>
          <a:blip r:embed="rId4">
            <a:alphaModFix/>
          </a:blip>
          <a:stretch>
            <a:fillRect/>
          </a:stretch>
        </p:blipFill>
        <p:spPr>
          <a:xfrm>
            <a:off x="808975" y="3710100"/>
            <a:ext cx="10360550" cy="762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685800" y="764375"/>
            <a:ext cx="108204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sz="2500"/>
              <a:t>Does the program detect overflow with the char data type? </a:t>
            </a:r>
            <a:endParaRPr sz="2500"/>
          </a:p>
        </p:txBody>
      </p:sp>
      <p:sp>
        <p:nvSpPr>
          <p:cNvPr id="219" name="Google Shape;219;p28"/>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600">
                <a:solidFill>
                  <a:srgbClr val="FFFFFF"/>
                </a:solidFill>
              </a:rPr>
              <a:t>Vulnerability: Integer Overflow (STD-009)</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Data Type: char</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Test Type: Positive/Negative Test</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Purpose: Verify that the program detects overflow when addition exceeds the maximum value of a signed char.</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Further Testing: Test values closer to the minimum and maximum limits of the char data type.</a:t>
            </a:r>
            <a:endParaRPr sz="1600">
              <a:solidFill>
                <a:srgbClr val="FFFFFF"/>
              </a:solidFill>
            </a:endParaRPr>
          </a:p>
          <a:p>
            <a:pPr indent="0" lvl="0" marL="0" rtl="0" algn="l">
              <a:lnSpc>
                <a:spcPct val="115000"/>
              </a:lnSpc>
              <a:spcBef>
                <a:spcPts val="0"/>
              </a:spcBef>
              <a:spcAft>
                <a:spcPts val="0"/>
              </a:spcAft>
              <a:buNone/>
            </a:pPr>
            <a:r>
              <a:t/>
            </a:r>
            <a:endParaRPr sz="1600">
              <a:solidFill>
                <a:srgbClr val="FFFFFF"/>
              </a:solidFill>
            </a:endParaRPr>
          </a:p>
          <a:p>
            <a:pPr indent="0" lvl="0" marL="0" rtl="0" algn="l">
              <a:lnSpc>
                <a:spcPct val="115000"/>
              </a:lnSpc>
              <a:spcBef>
                <a:spcPts val="0"/>
              </a:spcBef>
              <a:spcAft>
                <a:spcPts val="0"/>
              </a:spcAft>
              <a:buNone/>
            </a:pPr>
            <a:r>
              <a:t/>
            </a:r>
            <a:endParaRPr sz="1600">
              <a:solidFill>
                <a:srgbClr val="FFFFFF"/>
              </a:solidFill>
            </a:endParaRPr>
          </a:p>
          <a:p>
            <a:pPr indent="0" lvl="0" marL="0" rtl="0" algn="l">
              <a:lnSpc>
                <a:spcPct val="90000"/>
              </a:lnSpc>
              <a:spcBef>
                <a:spcPts val="1000"/>
              </a:spcBef>
              <a:spcAft>
                <a:spcPts val="0"/>
              </a:spcAft>
              <a:buSzPts val="1800"/>
              <a:buNone/>
            </a:pPr>
            <a:r>
              <a:t/>
            </a:r>
            <a:endParaRPr/>
          </a:p>
        </p:txBody>
      </p:sp>
      <p:pic>
        <p:nvPicPr>
          <p:cNvPr descr="Green Pace logo" id="220" name="Google Shape;220;p28"/>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21" name="Google Shape;221;p28"/>
          <p:cNvPicPr preferRelativeResize="0"/>
          <p:nvPr/>
        </p:nvPicPr>
        <p:blipFill>
          <a:blip r:embed="rId4">
            <a:alphaModFix/>
          </a:blip>
          <a:stretch>
            <a:fillRect/>
          </a:stretch>
        </p:blipFill>
        <p:spPr>
          <a:xfrm>
            <a:off x="943000" y="3976884"/>
            <a:ext cx="10344674" cy="808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685800" y="764375"/>
            <a:ext cx="108204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sz="2500"/>
              <a:t>Does the program detect overflow with the short data type? </a:t>
            </a:r>
            <a:r>
              <a:rPr lang="en-US" sz="2500"/>
              <a:t> </a:t>
            </a:r>
            <a:endParaRPr sz="2500"/>
          </a:p>
        </p:txBody>
      </p:sp>
      <p:sp>
        <p:nvSpPr>
          <p:cNvPr id="227" name="Google Shape;227;p29"/>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600">
                <a:solidFill>
                  <a:srgbClr val="FFFFFF"/>
                </a:solidFill>
              </a:rPr>
              <a:t>Vulnerability: Integer Overflow (STD-009)</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Data Type: </a:t>
            </a:r>
            <a:r>
              <a:rPr lang="en-US" sz="1600">
                <a:solidFill>
                  <a:srgbClr val="FFFFFF"/>
                </a:solidFill>
              </a:rPr>
              <a:t>short</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Test Type: Positive/Negative Test</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Purpose: v</a:t>
            </a:r>
            <a:r>
              <a:rPr lang="en-US" sz="1600">
                <a:solidFill>
                  <a:srgbClr val="FFFFFF"/>
                </a:solidFill>
              </a:rPr>
              <a:t>erify that the program detects overflow when addition exceeds the maximum value of a short integer.</a:t>
            </a:r>
            <a:endParaRPr sz="1600">
              <a:solidFill>
                <a:srgbClr val="FFFFFF"/>
              </a:solidFill>
            </a:endParaRPr>
          </a:p>
          <a:p>
            <a:pPr indent="0" lvl="0" marL="0" rtl="0" algn="l">
              <a:lnSpc>
                <a:spcPct val="115000"/>
              </a:lnSpc>
              <a:spcBef>
                <a:spcPts val="0"/>
              </a:spcBef>
              <a:spcAft>
                <a:spcPts val="0"/>
              </a:spcAft>
              <a:buNone/>
            </a:pPr>
            <a:r>
              <a:rPr lang="en-US" sz="1600">
                <a:solidFill>
                  <a:srgbClr val="FFFFFF"/>
                </a:solidFill>
              </a:rPr>
              <a:t>Further Testing: </a:t>
            </a:r>
            <a:r>
              <a:rPr lang="en-US" sz="1600">
                <a:solidFill>
                  <a:srgbClr val="FFFFFF"/>
                </a:solidFill>
              </a:rPr>
              <a:t>Test negative values and additional calculations near the minimum and maximum limits.</a:t>
            </a:r>
            <a:endParaRPr sz="1600">
              <a:solidFill>
                <a:srgbClr val="FFFFFF"/>
              </a:solidFill>
            </a:endParaRPr>
          </a:p>
          <a:p>
            <a:pPr indent="0" lvl="0" marL="0" rtl="0" algn="l">
              <a:lnSpc>
                <a:spcPct val="115000"/>
              </a:lnSpc>
              <a:spcBef>
                <a:spcPts val="0"/>
              </a:spcBef>
              <a:spcAft>
                <a:spcPts val="0"/>
              </a:spcAft>
              <a:buNone/>
            </a:pPr>
            <a:r>
              <a:t/>
            </a:r>
            <a:endParaRPr sz="1600">
              <a:solidFill>
                <a:srgbClr val="FFFFFF"/>
              </a:solidFill>
            </a:endParaRPr>
          </a:p>
          <a:p>
            <a:pPr indent="0" lvl="0" marL="0" rtl="0" algn="l">
              <a:lnSpc>
                <a:spcPct val="115000"/>
              </a:lnSpc>
              <a:spcBef>
                <a:spcPts val="0"/>
              </a:spcBef>
              <a:spcAft>
                <a:spcPts val="0"/>
              </a:spcAft>
              <a:buNone/>
            </a:pPr>
            <a:r>
              <a:t/>
            </a:r>
            <a:endParaRPr sz="1600">
              <a:solidFill>
                <a:srgbClr val="FFFFFF"/>
              </a:solidFill>
            </a:endParaRPr>
          </a:p>
          <a:p>
            <a:pPr indent="0" lvl="0" marL="0" rtl="0" algn="l">
              <a:lnSpc>
                <a:spcPct val="115000"/>
              </a:lnSpc>
              <a:spcBef>
                <a:spcPts val="0"/>
              </a:spcBef>
              <a:spcAft>
                <a:spcPts val="0"/>
              </a:spcAft>
              <a:buNone/>
            </a:pPr>
            <a:r>
              <a:t/>
            </a:r>
            <a:endParaRPr sz="1600">
              <a:solidFill>
                <a:srgbClr val="FFFFFF"/>
              </a:solidFill>
            </a:endParaRPr>
          </a:p>
          <a:p>
            <a:pPr indent="0" lvl="0" marL="0" rtl="0" algn="l">
              <a:lnSpc>
                <a:spcPct val="90000"/>
              </a:lnSpc>
              <a:spcBef>
                <a:spcPts val="1000"/>
              </a:spcBef>
              <a:spcAft>
                <a:spcPts val="0"/>
              </a:spcAft>
              <a:buSzPts val="1800"/>
              <a:buNone/>
            </a:pPr>
            <a:r>
              <a:t/>
            </a:r>
            <a:endParaRPr/>
          </a:p>
        </p:txBody>
      </p:sp>
      <p:pic>
        <p:nvPicPr>
          <p:cNvPr descr="Green Pace logo" id="228" name="Google Shape;228;p29"/>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29" name="Google Shape;229;p29"/>
          <p:cNvPicPr preferRelativeResize="0"/>
          <p:nvPr/>
        </p:nvPicPr>
        <p:blipFill>
          <a:blip r:embed="rId4">
            <a:alphaModFix/>
          </a:blip>
          <a:stretch>
            <a:fillRect/>
          </a:stretch>
        </p:blipFill>
        <p:spPr>
          <a:xfrm>
            <a:off x="685800" y="4215725"/>
            <a:ext cx="10776101" cy="872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35" name="Google Shape;235;p30"/>
          <p:cNvPicPr preferRelativeResize="0"/>
          <p:nvPr>
            <p:ph idx="1" type="body"/>
          </p:nvPr>
        </p:nvPicPr>
        <p:blipFill rotWithShape="1">
          <a:blip r:embed="rId3">
            <a:alphaModFix/>
          </a:blip>
          <a:srcRect b="0" l="0" r="0" t="0"/>
          <a:stretch/>
        </p:blipFill>
        <p:spPr>
          <a:xfrm>
            <a:off x="1260025" y="1776751"/>
            <a:ext cx="9408900" cy="4757400"/>
          </a:xfrm>
          <a:prstGeom prst="rect">
            <a:avLst/>
          </a:prstGeom>
          <a:noFill/>
          <a:ln>
            <a:noFill/>
          </a:ln>
        </p:spPr>
      </p:pic>
      <p:pic>
        <p:nvPicPr>
          <p:cNvPr descr="Green Pace logo" id="236" name="Google Shape;236;p30"/>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TOOLS</a:t>
            </a:r>
            <a:endParaRPr/>
          </a:p>
        </p:txBody>
      </p:sp>
      <p:sp>
        <p:nvSpPr>
          <p:cNvPr id="242" name="Google Shape;242;p3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lnSpcReduction="10000"/>
          </a:bodyPr>
          <a:lstStyle/>
          <a:p>
            <a:pPr indent="-330200" lvl="1" marL="914400" rtl="0" algn="l">
              <a:lnSpc>
                <a:spcPct val="115000"/>
              </a:lnSpc>
              <a:spcBef>
                <a:spcPts val="0"/>
              </a:spcBef>
              <a:spcAft>
                <a:spcPts val="0"/>
              </a:spcAft>
              <a:buSzPts val="1600"/>
              <a:buChar char="•"/>
            </a:pPr>
            <a:r>
              <a:rPr b="1" lang="en-US" sz="1600"/>
              <a:t>Plan and Design:</a:t>
            </a:r>
            <a:r>
              <a:rPr lang="en-US" sz="1600"/>
              <a:t> Identify potential security vulnerabilities and establish secure coding requirements.</a:t>
            </a:r>
            <a:endParaRPr sz="1600"/>
          </a:p>
          <a:p>
            <a:pPr indent="-330200" lvl="1" marL="914400" rtl="0" algn="l">
              <a:lnSpc>
                <a:spcPct val="115000"/>
              </a:lnSpc>
              <a:spcBef>
                <a:spcPts val="0"/>
              </a:spcBef>
              <a:spcAft>
                <a:spcPts val="0"/>
              </a:spcAft>
              <a:buSzPts val="1600"/>
              <a:buChar char="•"/>
            </a:pPr>
            <a:r>
              <a:rPr b="1" lang="en-US" sz="1600"/>
              <a:t>Build:</a:t>
            </a:r>
            <a:r>
              <a:rPr lang="en-US" sz="1600"/>
              <a:t> Use compiler warnings and static analysis tools to identify unsafe code.</a:t>
            </a:r>
            <a:endParaRPr sz="1600"/>
          </a:p>
          <a:p>
            <a:pPr indent="-330200" lvl="1" marL="914400" rtl="0" algn="l">
              <a:lnSpc>
                <a:spcPct val="115000"/>
              </a:lnSpc>
              <a:spcBef>
                <a:spcPts val="0"/>
              </a:spcBef>
              <a:spcAft>
                <a:spcPts val="0"/>
              </a:spcAft>
              <a:buSzPts val="1600"/>
              <a:buChar char="•"/>
            </a:pPr>
            <a:r>
              <a:rPr b="1" lang="en-US" sz="1600"/>
              <a:t>Verify and Test:</a:t>
            </a:r>
            <a:r>
              <a:rPr lang="en-US" sz="1600"/>
              <a:t> Run automated unit tests and security scans to detect vulnerabilities.</a:t>
            </a:r>
            <a:endParaRPr sz="1600"/>
          </a:p>
          <a:p>
            <a:pPr indent="-330200" lvl="1" marL="914400" rtl="0" algn="l">
              <a:lnSpc>
                <a:spcPct val="115000"/>
              </a:lnSpc>
              <a:spcBef>
                <a:spcPts val="0"/>
              </a:spcBef>
              <a:spcAft>
                <a:spcPts val="0"/>
              </a:spcAft>
              <a:buSzPts val="1600"/>
              <a:buChar char="•"/>
            </a:pPr>
            <a:r>
              <a:rPr b="1" lang="en-US" sz="1600"/>
              <a:t>Deploy:</a:t>
            </a:r>
            <a:r>
              <a:rPr lang="en-US" sz="1600"/>
              <a:t> Verify security settings and test applications before production release.</a:t>
            </a:r>
            <a:endParaRPr sz="1600"/>
          </a:p>
          <a:p>
            <a:pPr indent="-330200" lvl="1" marL="914400" rtl="0" algn="l">
              <a:lnSpc>
                <a:spcPct val="115000"/>
              </a:lnSpc>
              <a:spcBef>
                <a:spcPts val="0"/>
              </a:spcBef>
              <a:spcAft>
                <a:spcPts val="0"/>
              </a:spcAft>
              <a:buSzPts val="1600"/>
              <a:buChar char="•"/>
            </a:pPr>
            <a:r>
              <a:rPr b="1" lang="en-US" sz="1600"/>
              <a:t>Monitor:</a:t>
            </a:r>
            <a:r>
              <a:rPr lang="en-US" sz="1600"/>
              <a:t> Use logging and monitoring tools to detect suspicious activity.</a:t>
            </a:r>
            <a:endParaRPr sz="1600"/>
          </a:p>
          <a:p>
            <a:pPr indent="-330200" lvl="1" marL="914400" rtl="0" algn="l">
              <a:lnSpc>
                <a:spcPct val="115000"/>
              </a:lnSpc>
              <a:spcBef>
                <a:spcPts val="0"/>
              </a:spcBef>
              <a:spcAft>
                <a:spcPts val="0"/>
              </a:spcAft>
              <a:buSzPts val="1600"/>
              <a:buChar char="•"/>
            </a:pPr>
            <a:r>
              <a:rPr b="1" lang="en-US" sz="1600"/>
              <a:t>Respond:</a:t>
            </a:r>
            <a:r>
              <a:rPr lang="en-US" sz="1600"/>
              <a:t> Address identified vulnerabilities and update security policies.</a:t>
            </a:r>
            <a:endParaRPr sz="1600"/>
          </a:p>
          <a:p>
            <a:pPr indent="0" lvl="0" marL="0" rtl="0" algn="l">
              <a:lnSpc>
                <a:spcPct val="115000"/>
              </a:lnSpc>
              <a:spcBef>
                <a:spcPts val="1200"/>
              </a:spcBef>
              <a:spcAft>
                <a:spcPts val="0"/>
              </a:spcAft>
              <a:buNone/>
            </a:pPr>
            <a:r>
              <a:t/>
            </a:r>
            <a:endParaRPr sz="1600"/>
          </a:p>
          <a:p>
            <a:pPr indent="0" lvl="0" marL="0" rtl="0" algn="l">
              <a:lnSpc>
                <a:spcPct val="115000"/>
              </a:lnSpc>
              <a:spcBef>
                <a:spcPts val="1200"/>
              </a:spcBef>
              <a:spcAft>
                <a:spcPts val="0"/>
              </a:spcAft>
              <a:buNone/>
            </a:pPr>
            <a:r>
              <a:rPr lang="en-US" sz="1600"/>
              <a:t>Tools Used: </a:t>
            </a:r>
            <a:endParaRPr sz="1600"/>
          </a:p>
          <a:p>
            <a:pPr indent="0" lvl="0" marL="0" rtl="0" algn="l">
              <a:lnSpc>
                <a:spcPct val="115000"/>
              </a:lnSpc>
              <a:spcBef>
                <a:spcPts val="1200"/>
              </a:spcBef>
              <a:spcAft>
                <a:spcPts val="0"/>
              </a:spcAft>
              <a:buNone/>
            </a:pPr>
            <a:r>
              <a:rPr lang="en-US" sz="1600"/>
              <a:t>Visual Studio Compiler - Build - Compilation errors/warnings</a:t>
            </a:r>
            <a:endParaRPr sz="1600"/>
          </a:p>
          <a:p>
            <a:pPr indent="0" lvl="0" marL="0" rtl="0" algn="l">
              <a:lnSpc>
                <a:spcPct val="115000"/>
              </a:lnSpc>
              <a:spcBef>
                <a:spcPts val="1200"/>
              </a:spcBef>
              <a:spcAft>
                <a:spcPts val="0"/>
              </a:spcAft>
              <a:buNone/>
            </a:pPr>
            <a:r>
              <a:rPr lang="en-US" sz="1600"/>
              <a:t>Cppcheck - Build - C++ Security vulnerabilities</a:t>
            </a:r>
            <a:endParaRPr sz="1600"/>
          </a:p>
          <a:p>
            <a:pPr indent="0" lvl="0" marL="0" rtl="0" algn="l">
              <a:lnSpc>
                <a:spcPct val="115000"/>
              </a:lnSpc>
              <a:spcBef>
                <a:spcPts val="1200"/>
              </a:spcBef>
              <a:spcAft>
                <a:spcPts val="1200"/>
              </a:spcAft>
              <a:buNone/>
            </a:pPr>
            <a:r>
              <a:rPr lang="en-US" sz="1600"/>
              <a:t>Visual Studio Unit Testing - Test - Test behavior and error handling</a:t>
            </a:r>
            <a:endParaRPr sz="1600"/>
          </a:p>
        </p:txBody>
      </p:sp>
      <p:pic>
        <p:nvPicPr>
          <p:cNvPr descr="Green Pace logo" id="243" name="Google Shape;243;p3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RISKS AND BENEFITS</a:t>
            </a:r>
            <a:endParaRPr/>
          </a:p>
        </p:txBody>
      </p:sp>
      <p:sp>
        <p:nvSpPr>
          <p:cNvPr id="249" name="Google Shape;249;p32"/>
          <p:cNvSpPr txBox="1"/>
          <p:nvPr>
            <p:ph idx="1" type="body"/>
          </p:nvPr>
        </p:nvSpPr>
        <p:spPr>
          <a:xfrm>
            <a:off x="283900" y="2194550"/>
            <a:ext cx="4403100" cy="40242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rPr lang="en-US"/>
              <a:t>These risks are </a:t>
            </a:r>
            <a:r>
              <a:rPr lang="en-US"/>
              <a:t>chosen based on the likelihood of them happening, the impact, and the cost of fixing the issue. Delaying fixes might save time initially, but increases the possibility of breaches and system failures. </a:t>
            </a:r>
            <a:endParaRPr/>
          </a:p>
        </p:txBody>
      </p:sp>
      <p:pic>
        <p:nvPicPr>
          <p:cNvPr descr="Green Pace logo" id="250" name="Google Shape;250;p3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graphicFrame>
        <p:nvGraphicFramePr>
          <p:cNvPr id="251" name="Google Shape;251;p32"/>
          <p:cNvGraphicFramePr/>
          <p:nvPr/>
        </p:nvGraphicFramePr>
        <p:xfrm>
          <a:off x="4686975" y="2057400"/>
          <a:ext cx="3000000" cy="3000000"/>
        </p:xfrm>
        <a:graphic>
          <a:graphicData uri="http://schemas.openxmlformats.org/drawingml/2006/table">
            <a:tbl>
              <a:tblPr>
                <a:noFill/>
                <a:tableStyleId>{D31FC68B-7FF3-440C-8EE5-E7854D669411}</a:tableStyleId>
              </a:tblPr>
              <a:tblGrid>
                <a:gridCol w="1613250"/>
                <a:gridCol w="1613250"/>
                <a:gridCol w="1613250"/>
                <a:gridCol w="1613250"/>
              </a:tblGrid>
              <a:tr h="584050">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Security Problem</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Recommended Solution</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Benefit of Acting Now</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Risk of Waiting</a:t>
                      </a:r>
                      <a:endParaRPr>
                        <a:solidFill>
                          <a:srgbClr val="FFFFFF"/>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985575">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SQL Injection (STD-004)</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Use parameterized queries</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Prevents unauthorized database access</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Data theft or access</a:t>
                      </a:r>
                      <a:endParaRPr>
                        <a:solidFill>
                          <a:srgbClr val="FFFFFF"/>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754400">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Buffer Overflow (STD-003)</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Validate input lengths</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Prevents memory corruption</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Application crashes or exploits</a:t>
                      </a:r>
                      <a:endParaRPr>
                        <a:solidFill>
                          <a:srgbClr val="FFFFFF"/>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985575">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Memory Errors (STD-005)</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Use safe memory management</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Reduces crashes and security vulnerabilities</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Unstable applications</a:t>
                      </a:r>
                      <a:endParaRPr>
                        <a:solidFill>
                          <a:srgbClr val="FFFFFF"/>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r h="851750">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Integer Overflow (STD-009)</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Validate calculations and limits</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Prevents incorrect calculations</a:t>
                      </a:r>
                      <a:endParaRPr>
                        <a:solidFill>
                          <a:srgbClr val="FFFFFF"/>
                        </a:solidFill>
                        <a:latin typeface="Century Gothic"/>
                        <a:ea typeface="Century Gothic"/>
                        <a:cs typeface="Century Gothic"/>
                        <a:sym typeface="Century Gothic"/>
                      </a:endParaRPr>
                    </a:p>
                  </a:txBody>
                  <a:tcPr marT="19050" marB="19050" marR="28575" marL="28575" anchor="ctr">
                    <a:solidFill>
                      <a:srgbClr val="000000"/>
                    </a:solidFill>
                  </a:tcPr>
                </a:tc>
                <a:tc>
                  <a:txBody>
                    <a:bodyPr/>
                    <a:lstStyle/>
                    <a:p>
                      <a:pPr indent="0" lvl="0" marL="0" rtl="0" algn="ctr">
                        <a:lnSpc>
                          <a:spcPct val="115000"/>
                        </a:lnSpc>
                        <a:spcBef>
                          <a:spcPts val="0"/>
                        </a:spcBef>
                        <a:spcAft>
                          <a:spcPts val="0"/>
                        </a:spcAft>
                        <a:buNone/>
                      </a:pPr>
                      <a:r>
                        <a:rPr lang="en-US">
                          <a:solidFill>
                            <a:srgbClr val="FFFFFF"/>
                          </a:solidFill>
                          <a:latin typeface="Century Gothic"/>
                          <a:ea typeface="Century Gothic"/>
                          <a:cs typeface="Century Gothic"/>
                          <a:sym typeface="Century Gothic"/>
                        </a:rPr>
                        <a:t>Data corruption or unexpected behavior</a:t>
                      </a:r>
                      <a:endParaRPr>
                        <a:solidFill>
                          <a:srgbClr val="FFFFFF"/>
                        </a:solidFill>
                        <a:latin typeface="Century Gothic"/>
                        <a:ea typeface="Century Gothic"/>
                        <a:cs typeface="Century Gothic"/>
                        <a:sym typeface="Century Gothic"/>
                      </a:endParaRPr>
                    </a:p>
                  </a:txBody>
                  <a:tcPr marT="19050" marB="19050" marR="91425" marL="91425" anchor="ctr">
                    <a:lnR cap="flat" cmpd="sng" w="9525">
                      <a:solidFill>
                        <a:srgbClr val="000000"/>
                      </a:solidFill>
                      <a:prstDash val="solid"/>
                      <a:round/>
                      <a:headEnd len="sm" w="sm" type="none"/>
                      <a:tailEnd len="sm" w="sm" type="none"/>
                    </a:lnR>
                    <a:solidFill>
                      <a:srgbClr val="00000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RECOMMENDATIONS</a:t>
            </a:r>
            <a:endParaRPr/>
          </a:p>
        </p:txBody>
      </p:sp>
      <p:sp>
        <p:nvSpPr>
          <p:cNvPr id="257" name="Google Shape;257;p33"/>
          <p:cNvSpPr txBox="1"/>
          <p:nvPr>
            <p:ph idx="1" type="body"/>
          </p:nvPr>
        </p:nvSpPr>
        <p:spPr>
          <a:xfrm>
            <a:off x="685800" y="2194556"/>
            <a:ext cx="10820400" cy="1441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None/>
            </a:pPr>
            <a:r>
              <a:rPr lang="en-US" sz="1400">
                <a:solidFill>
                  <a:srgbClr val="FFFFFF"/>
                </a:solidFill>
              </a:rPr>
              <a:t>Automated Testing: Regular static analysis and unit testing to identify vulnerabilities </a:t>
            </a:r>
            <a:r>
              <a:rPr lang="en-US" sz="1400">
                <a:solidFill>
                  <a:srgbClr val="FFFFFF"/>
                </a:solidFill>
              </a:rPr>
              <a:t>prior to </a:t>
            </a:r>
            <a:r>
              <a:rPr lang="en-US" sz="1400">
                <a:solidFill>
                  <a:srgbClr val="FFFFFF"/>
                </a:solidFill>
              </a:rPr>
              <a:t>deployment.</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Developer Training: Provide ongoing secure coding training/certifications to reduce common programming mistakes.</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Policy Enforcement: Require code reviews and security checks to ensure developers follow established standards.</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Continuous Monitoring: Monitor applications and security logs to identify potential threats after deployment.</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Policy Updates: Review and update security standards regularly to address new vulnerabilities.</a:t>
            </a:r>
            <a:endParaRPr sz="1400">
              <a:solidFill>
                <a:srgbClr val="FFFFFF"/>
              </a:solidFill>
            </a:endParaRPr>
          </a:p>
          <a:p>
            <a:pPr indent="0" lvl="0" marL="0" rtl="0" algn="l">
              <a:lnSpc>
                <a:spcPct val="90000"/>
              </a:lnSpc>
              <a:spcBef>
                <a:spcPts val="0"/>
              </a:spcBef>
              <a:spcAft>
                <a:spcPts val="0"/>
              </a:spcAft>
              <a:buNone/>
            </a:pPr>
            <a:r>
              <a:t/>
            </a:r>
            <a:endParaRPr sz="1400"/>
          </a:p>
        </p:txBody>
      </p:sp>
      <p:pic>
        <p:nvPicPr>
          <p:cNvPr descr="Green Pace logo" id="258" name="Google Shape;258;p3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CONCLUSIONS</a:t>
            </a:r>
            <a:endParaRPr/>
          </a:p>
        </p:txBody>
      </p:sp>
      <p:sp>
        <p:nvSpPr>
          <p:cNvPr id="264" name="Google Shape;264;p3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US" sz="1800">
                <a:solidFill>
                  <a:srgbClr val="FFFFFF"/>
                </a:solidFill>
              </a:rPr>
              <a:t>Possible Future Security Standards and Improvements</a:t>
            </a:r>
            <a:endParaRPr b="1" sz="1800">
              <a:solidFill>
                <a:srgbClr val="FFFFFF"/>
              </a:solidFill>
            </a:endParaRPr>
          </a:p>
          <a:p>
            <a:pPr indent="0" lvl="0" marL="0" rtl="0" algn="l">
              <a:lnSpc>
                <a:spcPct val="115000"/>
              </a:lnSpc>
              <a:spcBef>
                <a:spcPts val="0"/>
              </a:spcBef>
              <a:spcAft>
                <a:spcPts val="0"/>
              </a:spcAft>
              <a:buNone/>
            </a:pPr>
            <a:r>
              <a:rPr lang="en-US" sz="1400">
                <a:solidFill>
                  <a:srgbClr val="FFFFFF"/>
                </a:solidFill>
              </a:rPr>
              <a:t>SEI CERT C++ Coding Standard: Continue to use established coding standards to prevent common vulnerabilities.</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OWASP Guidelines: Adopt OWASP recommendations to strengthen application security.</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Automated Security Testing: Integrate Cppcheck and unit testing into the development process along with VS tools.</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Least Privilege: Regularly review user permissions to prevent unauthorized access.</a:t>
            </a:r>
            <a:endParaRPr sz="1400">
              <a:solidFill>
                <a:srgbClr val="FFFFFF"/>
              </a:solidFill>
            </a:endParaRPr>
          </a:p>
          <a:p>
            <a:pPr indent="0" lvl="0" marL="0" rtl="0" algn="l">
              <a:lnSpc>
                <a:spcPct val="115000"/>
              </a:lnSpc>
              <a:spcBef>
                <a:spcPts val="0"/>
              </a:spcBef>
              <a:spcAft>
                <a:spcPts val="0"/>
              </a:spcAft>
              <a:buNone/>
            </a:pPr>
            <a:r>
              <a:rPr lang="en-US" sz="1400">
                <a:solidFill>
                  <a:srgbClr val="FFFFFF"/>
                </a:solidFill>
              </a:rPr>
              <a:t>Continuous Improvement: Update security policies based on new threats, testing results, and industry best practices.</a:t>
            </a:r>
            <a:endParaRPr sz="1400">
              <a:solidFill>
                <a:srgbClr val="FFFFFF"/>
              </a:solidFill>
            </a:endParaRPr>
          </a:p>
          <a:p>
            <a:pPr indent="-88900" lvl="0" marL="228600" rtl="0" algn="l">
              <a:lnSpc>
                <a:spcPct val="90000"/>
              </a:lnSpc>
              <a:spcBef>
                <a:spcPts val="1000"/>
              </a:spcBef>
              <a:spcAft>
                <a:spcPts val="0"/>
              </a:spcAft>
              <a:buClr>
                <a:schemeClr val="lt1"/>
              </a:buClr>
              <a:buSzPts val="2200"/>
              <a:buNone/>
            </a:pPr>
            <a:r>
              <a:t/>
            </a:r>
            <a:endParaRPr sz="1400"/>
          </a:p>
        </p:txBody>
      </p:sp>
      <p:pic>
        <p:nvPicPr>
          <p:cNvPr descr="Green Pace logo" id="265" name="Google Shape;265;p3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REFERENCES</a:t>
            </a:r>
            <a:endParaRPr/>
          </a:p>
        </p:txBody>
      </p:sp>
      <p:sp>
        <p:nvSpPr>
          <p:cNvPr id="271" name="Google Shape;271;p3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Autofit/>
          </a:bodyPr>
          <a:lstStyle/>
          <a:p>
            <a:pPr indent="0" lvl="0" marL="12700" rtl="0" algn="l">
              <a:lnSpc>
                <a:spcPct val="200000"/>
              </a:lnSpc>
              <a:spcBef>
                <a:spcPts val="0"/>
              </a:spcBef>
              <a:spcAft>
                <a:spcPts val="0"/>
              </a:spcAft>
              <a:buNone/>
            </a:pPr>
            <a:r>
              <a:rPr i="1" lang="en-US" sz="1400"/>
              <a:t>SEI CERT C and C++ coding standards</a:t>
            </a:r>
            <a:r>
              <a:rPr lang="en-US" sz="1400"/>
              <a:t>. (2017, March 14). SEI Digital Library. </a:t>
            </a:r>
            <a:r>
              <a:rPr lang="en-US" sz="1400" u="sng">
                <a:hlinkClick r:id="rId3"/>
              </a:rPr>
              <a:t>https://www.sei.cmu.edu/library/sei-cert-c-and-c-coding-standards/</a:t>
            </a:r>
            <a:endParaRPr sz="1400"/>
          </a:p>
          <a:p>
            <a:pPr indent="0" lvl="0" marL="457200" rtl="0" algn="l">
              <a:lnSpc>
                <a:spcPct val="90000"/>
              </a:lnSpc>
              <a:spcBef>
                <a:spcPts val="0"/>
              </a:spcBef>
              <a:spcAft>
                <a:spcPts val="0"/>
              </a:spcAft>
              <a:buNone/>
            </a:pPr>
            <a:r>
              <a:t/>
            </a:r>
            <a:endParaRPr sz="1400"/>
          </a:p>
          <a:p>
            <a:pPr indent="0" lvl="0" marL="12700" rtl="0" algn="l">
              <a:lnSpc>
                <a:spcPct val="200000"/>
              </a:lnSpc>
              <a:spcBef>
                <a:spcPts val="0"/>
              </a:spcBef>
              <a:spcAft>
                <a:spcPts val="0"/>
              </a:spcAft>
              <a:buNone/>
            </a:pPr>
            <a:r>
              <a:rPr i="1" lang="en-US" sz="1400"/>
              <a:t>Cppcheck / wiki / home</a:t>
            </a:r>
            <a:r>
              <a:rPr lang="en-US" sz="1400"/>
              <a:t>. (n.d.). Sourceforge.Net. Retrieved October 18, 2026, from </a:t>
            </a:r>
            <a:r>
              <a:rPr lang="en-US" sz="1400" u="sng">
                <a:hlinkClick r:id="rId4"/>
              </a:rPr>
              <a:t>https://sourceforge.net/p/cppcheck/wiki/Home/</a:t>
            </a:r>
            <a:endParaRPr sz="1400"/>
          </a:p>
          <a:p>
            <a:pPr indent="0" lvl="0" marL="12700" rtl="0" algn="l">
              <a:lnSpc>
                <a:spcPct val="200000"/>
              </a:lnSpc>
              <a:spcBef>
                <a:spcPts val="0"/>
              </a:spcBef>
              <a:spcAft>
                <a:spcPts val="0"/>
              </a:spcAft>
              <a:buNone/>
            </a:pPr>
            <a:r>
              <a:rPr lang="en-US" sz="1400"/>
              <a:t>TylerMSFT. (2025, October 30). </a:t>
            </a:r>
            <a:r>
              <a:rPr i="1" lang="en-US" sz="1400"/>
              <a:t>Write unit tests for C/C++ - visual studio (windows)</a:t>
            </a:r>
            <a:r>
              <a:rPr lang="en-US" sz="1400"/>
              <a:t>. Microsoft.Com. </a:t>
            </a:r>
            <a:r>
              <a:rPr lang="en-US" sz="1400" u="sng">
                <a:hlinkClick r:id="rId5"/>
              </a:rPr>
              <a:t>https://learn.microsoft.com/en-us/visualstudio/test/writing-unit-tests-for-c-cpp?view=visualstudio</a:t>
            </a:r>
            <a:endParaRPr sz="1400"/>
          </a:p>
          <a:p>
            <a:pPr indent="0" lvl="0" marL="12700" rtl="0" algn="l">
              <a:lnSpc>
                <a:spcPct val="200000"/>
              </a:lnSpc>
              <a:spcBef>
                <a:spcPts val="0"/>
              </a:spcBef>
              <a:spcAft>
                <a:spcPts val="0"/>
              </a:spcAft>
              <a:buNone/>
            </a:pPr>
            <a:r>
              <a:rPr lang="en-US" sz="1400"/>
              <a:t>OWASP top 10:2021. (2021). Owasp.Org. </a:t>
            </a:r>
            <a:r>
              <a:rPr lang="en-US" sz="1400" u="sng">
                <a:hlinkClick r:id="rId6"/>
              </a:rPr>
              <a:t>https://owasp.org/Top10/2021/</a:t>
            </a:r>
            <a:endParaRPr sz="1400"/>
          </a:p>
          <a:p>
            <a:pPr indent="0" lvl="0" marL="12700" rtl="0" algn="l">
              <a:lnSpc>
                <a:spcPct val="200000"/>
              </a:lnSpc>
              <a:spcBef>
                <a:spcPts val="0"/>
              </a:spcBef>
              <a:spcAft>
                <a:spcPts val="0"/>
              </a:spcAft>
              <a:buClr>
                <a:schemeClr val="dk1"/>
              </a:buClr>
              <a:buSzPts val="1100"/>
              <a:buFont typeface="Arial"/>
              <a:buNone/>
            </a:pPr>
            <a:r>
              <a:t/>
            </a:r>
            <a:endParaRPr sz="1400"/>
          </a:p>
          <a:p>
            <a:pPr indent="0" lvl="0" marL="0" rtl="0" algn="l">
              <a:lnSpc>
                <a:spcPct val="90000"/>
              </a:lnSpc>
              <a:spcBef>
                <a:spcPts val="0"/>
              </a:spcBef>
              <a:spcAft>
                <a:spcPts val="0"/>
              </a:spcAft>
              <a:buNone/>
            </a:pPr>
            <a:r>
              <a:t/>
            </a:r>
            <a:endParaRPr sz="1400"/>
          </a:p>
        </p:txBody>
      </p:sp>
      <p:pic>
        <p:nvPicPr>
          <p:cNvPr descr="Green Pace logo" id="272" name="Google Shape;272;p35"/>
          <p:cNvPicPr preferRelativeResize="0"/>
          <p:nvPr/>
        </p:nvPicPr>
        <p:blipFill rotWithShape="1">
          <a:blip r:embed="rId7">
            <a:alphaModFix/>
          </a:blip>
          <a:srcRect b="0" l="0" r="0" t="0"/>
          <a:stretch/>
        </p:blipFill>
        <p:spPr>
          <a:xfrm>
            <a:off x="11084074" y="5440526"/>
            <a:ext cx="886601" cy="1149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